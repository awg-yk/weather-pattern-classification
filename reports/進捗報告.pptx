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基本モデル</c:v>
                </c:pt>
              </c:strCache>
            </c:strRef>
          </c:tx>
          <c:spPr>
            <a:solidFill>
              <a:srgbClr val="1C7293"/>
            </a:solidFill>
            <a:effectLst/>
          </c:spPr>
          <c:invertIfNegative val="0"/>
          <c:dLbls>
            <c:numFmt formatCode="#,##0" sourceLinked="0"/>
            <c:txPr>
              <a:bodyPr/>
              <a:lstStyle/>
              <a:p>
                <a:pPr>
                  <a:defRPr b="0" i="0" strike="noStrike" sz="900" u="none">
                    <a:solidFill>
                      <a:srgbClr val="1A1A1A"/>
                    </a:solidFill>
                    <a:latin typeface="Arial"/>
                  </a:defRPr>
                </a:pPr>
              </a:p>
            </c:txPr>
            <c:showLegendKey val="0"/>
            <c:showVal val="1"/>
            <c:showCatName val="0"/>
            <c:showSerName val="0"/>
            <c:showPercent val="0"/>
            <c:showBubbleSize val="0"/>
            <c:showLeaderLines val="0"/>
          </c:dLbls>
          <c:cat>
            <c:multiLvlStrRef>
              <c:f>Sheet1!$A$2:$A$11</c:f>
              <c:multiLvlStrCache>
                <c:ptCount val="10"/>
                <c:lvl>
                  <c:pt idx="0">
                    <c:v>西高東低</c:v>
                  </c:pt>
                  <c:pt idx="1">
                    <c:v>台風</c:v>
                  </c:pt>
                  <c:pt idx="2">
                    <c:v>前線通過</c:v>
                  </c:pt>
                  <c:pt idx="3">
                    <c:v>移動性高気圧</c:v>
                  </c:pt>
                  <c:pt idx="4">
                    <c:v>停滞前線</c:v>
                  </c:pt>
                  <c:pt idx="5">
                    <c:v>日本海低気圧</c:v>
                  </c:pt>
                  <c:pt idx="6">
                    <c:v>南岸低気圧</c:v>
                  </c:pt>
                  <c:pt idx="7">
                    <c:v>太平洋高気圧型</c:v>
                  </c:pt>
                  <c:pt idx="8">
                    <c:v>二つ玉低気圧</c:v>
                  </c:pt>
                  <c:pt idx="9">
                    <c:v>オホーツク海高気圧</c:v>
                  </c:pt>
                </c:lvl>
              </c:multiLvlStrCache>
            </c:multiLvlStrRef>
          </c:cat>
          <c:val>
            <c:numRef>
              <c:f>Sheet1!$B$2:$B$11</c:f>
              <c:numCache>
                <c:formatCode>General</c:formatCode>
                <c:ptCount val="10"/>
                <c:pt idx="0">
                  <c:v>0.765</c:v>
                </c:pt>
                <c:pt idx="1">
                  <c:v>0.776</c:v>
                </c:pt>
                <c:pt idx="2">
                  <c:v>0.721</c:v>
                </c:pt>
                <c:pt idx="3">
                  <c:v>0.719</c:v>
                </c:pt>
                <c:pt idx="4">
                  <c:v>0.737</c:v>
                </c:pt>
                <c:pt idx="5">
                  <c:v>0.671</c:v>
                </c:pt>
                <c:pt idx="6">
                  <c:v>0.596</c:v>
                </c:pt>
                <c:pt idx="7">
                  <c:v>0.5</c:v>
                </c:pt>
                <c:pt idx="8">
                  <c:v>0.485</c:v>
                </c:pt>
                <c:pt idx="9">
                  <c:v>0.155</c:v>
                </c:pt>
              </c:numCache>
            </c:numRef>
          </c:val>
        </c:ser>
        <c:ser>
          <c:idx val="1"/>
          <c:order val="1"/>
          <c:tx>
            <c:strRef>
              <c:f>Sheet1!$C$1</c:f>
              <c:strCache>
                <c:ptCount val="1"/>
                <c:pt idx="0">
                  <c:v>座標情報を追加（CoordConv）</c:v>
                </c:pt>
              </c:strCache>
            </c:strRef>
          </c:tx>
          <c:spPr>
            <a:solidFill>
              <a:srgbClr val="065A82"/>
            </a:solidFill>
            <a:effectLst/>
          </c:spPr>
          <c:invertIfNegative val="0"/>
          <c:dLbls>
            <c:numFmt formatCode="#,##0" sourceLinked="0"/>
            <c:txPr>
              <a:bodyPr/>
              <a:lstStyle/>
              <a:p>
                <a:pPr>
                  <a:defRPr b="0" i="0" strike="noStrike" sz="900" u="none">
                    <a:solidFill>
                      <a:srgbClr val="1A1A1A"/>
                    </a:solidFill>
                    <a:latin typeface="Arial"/>
                  </a:defRPr>
                </a:pPr>
              </a:p>
            </c:txPr>
            <c:showLegendKey val="0"/>
            <c:showVal val="1"/>
            <c:showCatName val="0"/>
            <c:showSerName val="0"/>
            <c:showPercent val="0"/>
            <c:showBubbleSize val="0"/>
            <c:showLeaderLines val="0"/>
          </c:dLbls>
          <c:cat>
            <c:multiLvlStrRef>
              <c:f>Sheet1!$A$2:$A$11</c:f>
              <c:multiLvlStrCache>
                <c:ptCount val="10"/>
                <c:lvl>
                  <c:pt idx="0">
                    <c:v>西高東低</c:v>
                  </c:pt>
                  <c:pt idx="1">
                    <c:v>台風</c:v>
                  </c:pt>
                  <c:pt idx="2">
                    <c:v>前線通過</c:v>
                  </c:pt>
                  <c:pt idx="3">
                    <c:v>移動性高気圧</c:v>
                  </c:pt>
                  <c:pt idx="4">
                    <c:v>停滞前線</c:v>
                  </c:pt>
                  <c:pt idx="5">
                    <c:v>日本海低気圧</c:v>
                  </c:pt>
                  <c:pt idx="6">
                    <c:v>南岸低気圧</c:v>
                  </c:pt>
                  <c:pt idx="7">
                    <c:v>太平洋高気圧型</c:v>
                  </c:pt>
                  <c:pt idx="8">
                    <c:v>二つ玉低気圧</c:v>
                  </c:pt>
                  <c:pt idx="9">
                    <c:v>オホーツク海高気圧</c:v>
                  </c:pt>
                </c:lvl>
              </c:multiLvlStrCache>
            </c:multiLvlStrRef>
          </c:cat>
          <c:val>
            <c:numRef>
              <c:f>Sheet1!$C$2:$C$11</c:f>
              <c:numCache>
                <c:formatCode>General</c:formatCode>
                <c:ptCount val="10"/>
                <c:pt idx="0">
                  <c:v>0.769</c:v>
                </c:pt>
                <c:pt idx="1">
                  <c:v>0.745</c:v>
                </c:pt>
                <c:pt idx="2">
                  <c:v>0.74</c:v>
                </c:pt>
                <c:pt idx="3">
                  <c:v>0.725</c:v>
                </c:pt>
                <c:pt idx="4">
                  <c:v>0.726</c:v>
                </c:pt>
                <c:pt idx="5">
                  <c:v>0.668</c:v>
                </c:pt>
                <c:pt idx="6">
                  <c:v>0.633</c:v>
                </c:pt>
                <c:pt idx="7">
                  <c:v>0.558</c:v>
                </c:pt>
                <c:pt idx="8">
                  <c:v>0.497</c:v>
                </c:pt>
                <c:pt idx="9">
                  <c:v>0.24</c:v>
                </c:pt>
              </c:numCache>
            </c:numRef>
          </c:val>
        </c:ser>
        <c:dLbls>
          <c:numFmt formatCode="#,##0" sourceLinked="0"/>
          <c:txPr>
            <a:bodyPr/>
            <a:lstStyle/>
            <a:p>
              <a:pPr>
                <a:defRPr b="0" i="0" strike="noStrike" sz="900" u="none">
                  <a:solidFill>
                    <a:srgbClr val="1A1A1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A1A"/>
                </a:solidFill>
                <a:latin typeface="Arial"/>
              </a:defRPr>
            </a:pPr>
            <a:endParaRPr lang="en-US"/>
          </a:p>
        </c:txPr>
        <c:crossAx val="2094734552"/>
        <c:crosses val="autoZero"/>
        <c:auto val="1"/>
        <c:lblAlgn val="ctr"/>
        <c:noMultiLvlLbl val="1"/>
      </c:catAx>
      <c:valAx>
        <c:axId val="2094734552"/>
        <c:scaling>
          <c:orientation val="minMax"/>
          <c:max val="0.95"/>
        </c:scaling>
        <c:delete val="0"/>
        <c:axPos val="b"/>
        <c:majorGridlines>
          <c:spPr>
            <a:ln w="12700" cap="flat">
              <a:solidFill>
                <a:srgbClr val="EBEF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進捗報告のまとめ。方法論の見直し、現在の成績、学習量と性能の関係、オホーツク海高気圧の分析、今後の課題の順で説明する。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2432枚を手作業でラベル付けした。1枚に複数の気圧配置が共存するため多ラベル分類として扱う。ラベルの件数には11倍の偏りがあり、損失に重みを付けて対処している。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初に得られた0.75は、同じ日の00Zと12Zが学習側と評価側に分かれていたことによる過大評価。実際に測ると評価画像の95%が学習画像の1日以内にあった。時期で完全に分離して測り直し、交差検証で0.613を得た。報告にはこちらを使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基本モデルに座標情報を加えた比較。全体では0.613から0.630。位置で定義されるラベルが最も改善しており、事前の仮説と一致する。ただし乱数シード1条件のみの結果で、再現性の確認は今後の課題。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学習件数を100から1155まで変えて測定した。対数関数でよく説明でき、現在は収穫逓減の領域にある。この式から追加ラベリングの費用対効果を見積もれる。ただし表の数値は外挿であり実測ではない。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9つのラベルは学習量とともに伸びているが、オホーツク海高気圧だけ完全に平坦。学習量を11倍にしても改善しないということは、このラベルの問題はデータ不足ではない。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Grad-CAMによる可視化、学習曲線、ERA5を使った検証。3つの別々の方法が同じ結論を指している。畳み込みは平行移動に対して同じ反応をするため、位置が定義に含まれるラベルを苦手とする。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最初は特徴ベクトルに連結したが改善しなかった。次元比が大きく信号が埋もれたと考えられる。特徴量を設計し直し、確率の平均で組み合わせたところ、3つのfoldすべてで改善した。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ラベルは北東気流が入りそうかという予報官の判断で付けられている。高気圧が海の南部にあるほど入りやすいという知見を、領域の分割と地衡風の計算という形で特徴量にした。単独AUCでも係数でも南が北を上回り、風の係数の符号も判断と一致した。さらに5から8月に限って測り直し、季節を当てているだけではないことを確認している。850hPa気温だけは季節の代理だっ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次の5項目。特に2のラベル再現性の測定を優先したい。人間でも判断が揺れるなら、モデルがそれを超えることは原理的にない。上限を知ることで、現在の到達度を初めて評価できる。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822960" y="2011680"/>
            <a:ext cx="10515600" cy="82296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天気図の気圧配置分類</a:t>
            </a:r>
            <a:endParaRPr lang="en-US" sz="4400" dirty="0"/>
          </a:p>
        </p:txBody>
      </p:sp>
      <p:sp>
        <p:nvSpPr>
          <p:cNvPr id="3" name="Text 1"/>
          <p:cNvSpPr/>
          <p:nvPr/>
        </p:nvSpPr>
        <p:spPr>
          <a:xfrm>
            <a:off x="822960" y="2880360"/>
            <a:ext cx="10515600" cy="457200"/>
          </a:xfrm>
          <a:prstGeom prst="rect">
            <a:avLst/>
          </a:prstGeom>
          <a:noFill/>
          <a:ln/>
        </p:spPr>
        <p:txBody>
          <a:bodyPr wrap="square" rtlCol="0" anchor="ctr"/>
          <a:lstStyle/>
          <a:p>
            <a:pPr indent="0" marL="0">
              <a:buNone/>
            </a:pPr>
            <a:r>
              <a:rPr lang="en-US" sz="2000" dirty="0">
                <a:solidFill>
                  <a:srgbClr val="CADCFC"/>
                </a:solidFill>
                <a:latin typeface="Meiryo" pitchFamily="34" charset="0"/>
                <a:ea typeface="Meiryo" pitchFamily="34" charset="-122"/>
                <a:cs typeface="Meiryo" pitchFamily="34" charset="-120"/>
              </a:rPr>
              <a:t>畳み込みニューラルネットワークによる多ラベル分類</a:t>
            </a:r>
            <a:endParaRPr lang="en-US" sz="2000" dirty="0"/>
          </a:p>
        </p:txBody>
      </p:sp>
      <p:sp>
        <p:nvSpPr>
          <p:cNvPr id="4" name="Text 2"/>
          <p:cNvSpPr/>
          <p:nvPr/>
        </p:nvSpPr>
        <p:spPr>
          <a:xfrm>
            <a:off x="822960" y="3749040"/>
            <a:ext cx="5486400" cy="365760"/>
          </a:xfrm>
          <a:prstGeom prst="rect">
            <a:avLst/>
          </a:prstGeom>
          <a:noFill/>
          <a:ln/>
        </p:spPr>
        <p:txBody>
          <a:bodyPr wrap="square" rtlCol="0" anchor="ctr"/>
          <a:lstStyle/>
          <a:p>
            <a:pPr indent="0" marL="0">
              <a:buNone/>
            </a:pPr>
            <a:r>
              <a:rPr lang="en-US" sz="1600" i="1" dirty="0">
                <a:solidFill>
                  <a:srgbClr val="8FB8CC"/>
                </a:solidFill>
                <a:latin typeface="Meiryo" pitchFamily="34" charset="0"/>
                <a:ea typeface="Meiryo" pitchFamily="34" charset="-122"/>
                <a:cs typeface="Meiryo" pitchFamily="34" charset="-120"/>
              </a:rPr>
              <a:t>進捗報告</a:t>
            </a:r>
            <a:endParaRPr lang="en-US" sz="1600" dirty="0"/>
          </a:p>
        </p:txBody>
      </p:sp>
      <p:sp>
        <p:nvSpPr>
          <p:cNvPr id="5" name="Shape 3"/>
          <p:cNvSpPr/>
          <p:nvPr/>
        </p:nvSpPr>
        <p:spPr>
          <a:xfrm>
            <a:off x="822960" y="4343400"/>
            <a:ext cx="2011680" cy="27432"/>
          </a:xfrm>
          <a:prstGeom prst="rect">
            <a:avLst/>
          </a:prstGeom>
          <a:solidFill>
            <a:srgbClr val="1C7293"/>
          </a:solidFill>
          <a:ln/>
        </p:spPr>
      </p:sp>
      <p:sp>
        <p:nvSpPr>
          <p:cNvPr id="6" name="Text 4"/>
          <p:cNvSpPr/>
          <p:nvPr/>
        </p:nvSpPr>
        <p:spPr>
          <a:xfrm>
            <a:off x="822960" y="4572000"/>
            <a:ext cx="5486400" cy="365760"/>
          </a:xfrm>
          <a:prstGeom prst="rect">
            <a:avLst/>
          </a:prstGeom>
          <a:noFill/>
          <a:ln/>
        </p:spPr>
        <p:txBody>
          <a:bodyPr wrap="square" rtlCol="0" anchor="ctr"/>
          <a:lstStyle/>
          <a:p>
            <a:pPr indent="0" marL="0">
              <a:buNone/>
            </a:pPr>
            <a:r>
              <a:rPr lang="en-US" sz="1400" dirty="0">
                <a:solidFill>
                  <a:srgbClr val="8FB8CC"/>
                </a:solidFill>
                <a:latin typeface="Meiryo" pitchFamily="34" charset="0"/>
                <a:ea typeface="Meiryo" pitchFamily="34" charset="-122"/>
                <a:cs typeface="Meiryo" pitchFamily="34" charset="-120"/>
              </a:rPr>
              <a:t>2026年8月</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74320"/>
          </a:xfrm>
          <a:prstGeom prst="rect">
            <a:avLst/>
          </a:prstGeom>
          <a:noFill/>
          <a:ln/>
        </p:spPr>
        <p:txBody>
          <a:bodyPr wrap="square" rtlCol="0" anchor="ctr"/>
          <a:lstStyle/>
          <a:p>
            <a:pPr indent="0" marL="0">
              <a:buNone/>
            </a:pPr>
            <a:r>
              <a:rPr lang="en-US" sz="1200" b="1" spc="100" kern="0" dirty="0">
                <a:solidFill>
                  <a:srgbClr val="1C7293"/>
                </a:solidFill>
                <a:latin typeface="Meiryo" pitchFamily="34" charset="0"/>
                <a:ea typeface="Meiryo" pitchFamily="34" charset="-122"/>
                <a:cs typeface="Meiryo" pitchFamily="34" charset="-120"/>
              </a:rPr>
              <a:t>研究の枠組み</a:t>
            </a:r>
            <a:endParaRPr lang="en-US" sz="1200" dirty="0"/>
          </a:p>
        </p:txBody>
      </p:sp>
      <p:sp>
        <p:nvSpPr>
          <p:cNvPr id="3" name="Text 1"/>
          <p:cNvSpPr/>
          <p:nvPr/>
        </p:nvSpPr>
        <p:spPr>
          <a:xfrm>
            <a:off x="548640" y="621792"/>
            <a:ext cx="11064240" cy="64008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対象データとラベル</a:t>
            </a:r>
            <a:endParaRPr lang="en-US" sz="3200" dirty="0"/>
          </a:p>
        </p:txBody>
      </p:sp>
      <p:sp>
        <p:nvSpPr>
          <p:cNvPr id="4" name="Shape 2"/>
          <p:cNvSpPr/>
          <p:nvPr/>
        </p:nvSpPr>
        <p:spPr>
          <a:xfrm>
            <a:off x="548640" y="1554480"/>
            <a:ext cx="2651760" cy="1417320"/>
          </a:xfrm>
          <a:prstGeom prst="roundRect">
            <a:avLst>
              <a:gd name="adj" fmla="val 5161"/>
            </a:avLst>
          </a:prstGeom>
          <a:solidFill>
            <a:srgbClr val="F4F7F9"/>
          </a:solidFill>
          <a:ln/>
          <a:effectLst>
            <a:outerShdw sx="100000" sy="100000" kx="0" ky="0" algn="bl" rotWithShape="0" blurRad="101600" dist="25400" dir="5400000">
              <a:srgbClr val="C9D4DC">
                <a:alpha val="50000"/>
              </a:srgbClr>
            </a:outerShdw>
          </a:effectLst>
        </p:spPr>
      </p:sp>
      <p:sp>
        <p:nvSpPr>
          <p:cNvPr id="5" name="Text 3"/>
          <p:cNvSpPr/>
          <p:nvPr/>
        </p:nvSpPr>
        <p:spPr>
          <a:xfrm>
            <a:off x="640080" y="1719072"/>
            <a:ext cx="2468880" cy="658368"/>
          </a:xfrm>
          <a:prstGeom prst="rect">
            <a:avLst/>
          </a:prstGeom>
          <a:noFill/>
          <a:ln/>
        </p:spPr>
        <p:txBody>
          <a:bodyPr wrap="square" lIns="0" tIns="0" rIns="0" bIns="0" rtlCol="0" anchor="ctr"/>
          <a:lstStyle/>
          <a:p>
            <a:pPr algn="ctr" indent="0" marL="0">
              <a:buNone/>
            </a:pPr>
            <a:r>
              <a:rPr lang="en-US" sz="3400" b="1" dirty="0">
                <a:solidFill>
                  <a:srgbClr val="065A82"/>
                </a:solidFill>
                <a:latin typeface="Cambria" pitchFamily="34" charset="0"/>
                <a:ea typeface="Cambria" pitchFamily="34" charset="-122"/>
                <a:cs typeface="Cambria" pitchFamily="34" charset="-120"/>
              </a:rPr>
              <a:t>2,432枚</a:t>
            </a:r>
            <a:endParaRPr lang="en-US" sz="3400" dirty="0"/>
          </a:p>
        </p:txBody>
      </p:sp>
      <p:sp>
        <p:nvSpPr>
          <p:cNvPr id="6" name="Text 4"/>
          <p:cNvSpPr/>
          <p:nvPr/>
        </p:nvSpPr>
        <p:spPr>
          <a:xfrm>
            <a:off x="640080" y="2423160"/>
            <a:ext cx="2468880" cy="457200"/>
          </a:xfrm>
          <a:prstGeom prst="rect">
            <a:avLst/>
          </a:prstGeom>
          <a:noFill/>
          <a:ln/>
        </p:spPr>
        <p:txBody>
          <a:bodyPr wrap="square" lIns="0" tIns="0" rIns="0" bIns="0" rtlCol="0" anchor="ctr"/>
          <a:lstStyle/>
          <a:p>
            <a:pPr algn="ctr" indent="0" marL="0">
              <a:buNone/>
            </a:pPr>
            <a:r>
              <a:rPr lang="en-US" sz="1150" dirty="0">
                <a:solidFill>
                  <a:srgbClr val="5A6472"/>
                </a:solidFill>
                <a:latin typeface="Meiryo" pitchFamily="34" charset="0"/>
                <a:ea typeface="Meiryo" pitchFamily="34" charset="-122"/>
                <a:cs typeface="Meiryo" pitchFamily="34" charset="-120"/>
              </a:rPr>
              <a:t>手作業でラベル付けした天気図</a:t>
            </a:r>
            <a:endParaRPr lang="en-US" sz="1150" dirty="0"/>
          </a:p>
        </p:txBody>
      </p:sp>
      <p:sp>
        <p:nvSpPr>
          <p:cNvPr id="7" name="Shape 5"/>
          <p:cNvSpPr/>
          <p:nvPr/>
        </p:nvSpPr>
        <p:spPr>
          <a:xfrm>
            <a:off x="3383280" y="1554480"/>
            <a:ext cx="2651760" cy="1417320"/>
          </a:xfrm>
          <a:prstGeom prst="roundRect">
            <a:avLst>
              <a:gd name="adj" fmla="val 5161"/>
            </a:avLst>
          </a:prstGeom>
          <a:solidFill>
            <a:srgbClr val="F4F7F9"/>
          </a:solidFill>
          <a:ln/>
          <a:effectLst>
            <a:outerShdw sx="100000" sy="100000" kx="0" ky="0" algn="bl" rotWithShape="0" blurRad="101600" dist="25400" dir="5400000">
              <a:srgbClr val="C9D4DC">
                <a:alpha val="50000"/>
              </a:srgbClr>
            </a:outerShdw>
          </a:effectLst>
        </p:spPr>
      </p:sp>
      <p:sp>
        <p:nvSpPr>
          <p:cNvPr id="8" name="Text 6"/>
          <p:cNvSpPr/>
          <p:nvPr/>
        </p:nvSpPr>
        <p:spPr>
          <a:xfrm>
            <a:off x="3474720" y="1719072"/>
            <a:ext cx="2468880" cy="658368"/>
          </a:xfrm>
          <a:prstGeom prst="rect">
            <a:avLst/>
          </a:prstGeom>
          <a:noFill/>
          <a:ln/>
        </p:spPr>
        <p:txBody>
          <a:bodyPr wrap="square" lIns="0" tIns="0" rIns="0" bIns="0" rtlCol="0" anchor="ctr"/>
          <a:lstStyle/>
          <a:p>
            <a:pPr algn="ctr" indent="0" marL="0">
              <a:buNone/>
            </a:pPr>
            <a:r>
              <a:rPr lang="en-US" sz="3400" b="1" dirty="0">
                <a:solidFill>
                  <a:srgbClr val="065A82"/>
                </a:solidFill>
                <a:latin typeface="Cambria" pitchFamily="34" charset="0"/>
                <a:ea typeface="Cambria" pitchFamily="34" charset="-122"/>
                <a:cs typeface="Cambria" pitchFamily="34" charset="-120"/>
              </a:rPr>
              <a:t>10種類</a:t>
            </a:r>
            <a:endParaRPr lang="en-US" sz="3400" dirty="0"/>
          </a:p>
        </p:txBody>
      </p:sp>
      <p:sp>
        <p:nvSpPr>
          <p:cNvPr id="9" name="Text 7"/>
          <p:cNvSpPr/>
          <p:nvPr/>
        </p:nvSpPr>
        <p:spPr>
          <a:xfrm>
            <a:off x="3474720" y="2423160"/>
            <a:ext cx="2468880" cy="457200"/>
          </a:xfrm>
          <a:prstGeom prst="rect">
            <a:avLst/>
          </a:prstGeom>
          <a:noFill/>
          <a:ln/>
        </p:spPr>
        <p:txBody>
          <a:bodyPr wrap="square" lIns="0" tIns="0" rIns="0" bIns="0" rtlCol="0" anchor="ctr"/>
          <a:lstStyle/>
          <a:p>
            <a:pPr algn="ctr" indent="0" marL="0">
              <a:buNone/>
            </a:pPr>
            <a:r>
              <a:rPr lang="en-US" sz="1150" dirty="0">
                <a:solidFill>
                  <a:srgbClr val="5A6472"/>
                </a:solidFill>
                <a:latin typeface="Meiryo" pitchFamily="34" charset="0"/>
                <a:ea typeface="Meiryo" pitchFamily="34" charset="-122"/>
                <a:cs typeface="Meiryo" pitchFamily="34" charset="-120"/>
              </a:rPr>
              <a:t>気圧配置のラベル（重複あり）</a:t>
            </a:r>
            <a:endParaRPr lang="en-US" sz="1150" dirty="0"/>
          </a:p>
        </p:txBody>
      </p:sp>
      <p:sp>
        <p:nvSpPr>
          <p:cNvPr id="10" name="Shape 8"/>
          <p:cNvSpPr/>
          <p:nvPr/>
        </p:nvSpPr>
        <p:spPr>
          <a:xfrm>
            <a:off x="6217920" y="1554480"/>
            <a:ext cx="2651760" cy="1417320"/>
          </a:xfrm>
          <a:prstGeom prst="roundRect">
            <a:avLst>
              <a:gd name="adj" fmla="val 5161"/>
            </a:avLst>
          </a:prstGeom>
          <a:solidFill>
            <a:srgbClr val="F4F7F9"/>
          </a:solidFill>
          <a:ln/>
          <a:effectLst>
            <a:outerShdw sx="100000" sy="100000" kx="0" ky="0" algn="bl" rotWithShape="0" blurRad="101600" dist="25400" dir="5400000">
              <a:srgbClr val="C9D4DC">
                <a:alpha val="50000"/>
              </a:srgbClr>
            </a:outerShdw>
          </a:effectLst>
        </p:spPr>
      </p:sp>
      <p:sp>
        <p:nvSpPr>
          <p:cNvPr id="11" name="Text 9"/>
          <p:cNvSpPr/>
          <p:nvPr/>
        </p:nvSpPr>
        <p:spPr>
          <a:xfrm>
            <a:off x="6309360" y="1719072"/>
            <a:ext cx="2468880" cy="658368"/>
          </a:xfrm>
          <a:prstGeom prst="rect">
            <a:avLst/>
          </a:prstGeom>
          <a:noFill/>
          <a:ln/>
        </p:spPr>
        <p:txBody>
          <a:bodyPr wrap="square" lIns="0" tIns="0" rIns="0" bIns="0" rtlCol="0" anchor="ctr"/>
          <a:lstStyle/>
          <a:p>
            <a:pPr algn="ctr" indent="0" marL="0">
              <a:buNone/>
            </a:pPr>
            <a:r>
              <a:rPr lang="en-US" sz="3400" b="1" dirty="0">
                <a:solidFill>
                  <a:srgbClr val="065A82"/>
                </a:solidFill>
                <a:latin typeface="Cambria" pitchFamily="34" charset="0"/>
                <a:ea typeface="Cambria" pitchFamily="34" charset="-122"/>
                <a:cs typeface="Cambria" pitchFamily="34" charset="-120"/>
              </a:rPr>
              <a:t>3年分</a:t>
            </a:r>
            <a:endParaRPr lang="en-US" sz="3400" dirty="0"/>
          </a:p>
        </p:txBody>
      </p:sp>
      <p:sp>
        <p:nvSpPr>
          <p:cNvPr id="12" name="Text 10"/>
          <p:cNvSpPr/>
          <p:nvPr/>
        </p:nvSpPr>
        <p:spPr>
          <a:xfrm>
            <a:off x="6309360" y="2423160"/>
            <a:ext cx="2468880" cy="457200"/>
          </a:xfrm>
          <a:prstGeom prst="rect">
            <a:avLst/>
          </a:prstGeom>
          <a:noFill/>
          <a:ln/>
        </p:spPr>
        <p:txBody>
          <a:bodyPr wrap="square" lIns="0" tIns="0" rIns="0" bIns="0" rtlCol="0" anchor="ctr"/>
          <a:lstStyle/>
          <a:p>
            <a:pPr algn="ctr" indent="0" marL="0">
              <a:buNone/>
            </a:pPr>
            <a:r>
              <a:rPr lang="en-US" sz="1150" dirty="0">
                <a:solidFill>
                  <a:srgbClr val="5A6472"/>
                </a:solidFill>
                <a:latin typeface="Meiryo" pitchFamily="34" charset="0"/>
                <a:ea typeface="Meiryo" pitchFamily="34" charset="-122"/>
                <a:cs typeface="Meiryo" pitchFamily="34" charset="-120"/>
              </a:rPr>
              <a:t>2023〜2025年（1日2回 00Z/12Z）</a:t>
            </a:r>
            <a:endParaRPr lang="en-US" sz="1150" dirty="0"/>
          </a:p>
        </p:txBody>
      </p:sp>
      <p:sp>
        <p:nvSpPr>
          <p:cNvPr id="13" name="Shape 11"/>
          <p:cNvSpPr/>
          <p:nvPr/>
        </p:nvSpPr>
        <p:spPr>
          <a:xfrm>
            <a:off x="9052560" y="1554480"/>
            <a:ext cx="2560320" cy="1417320"/>
          </a:xfrm>
          <a:prstGeom prst="roundRect">
            <a:avLst>
              <a:gd name="adj" fmla="val 5161"/>
            </a:avLst>
          </a:prstGeom>
          <a:solidFill>
            <a:srgbClr val="F4F7F9"/>
          </a:solidFill>
          <a:ln/>
          <a:effectLst>
            <a:outerShdw sx="100000" sy="100000" kx="0" ky="0" algn="bl" rotWithShape="0" blurRad="101600" dist="25400" dir="5400000">
              <a:srgbClr val="C9D4DC">
                <a:alpha val="50000"/>
              </a:srgbClr>
            </a:outerShdw>
          </a:effectLst>
        </p:spPr>
      </p:sp>
      <p:sp>
        <p:nvSpPr>
          <p:cNvPr id="14" name="Text 12"/>
          <p:cNvSpPr/>
          <p:nvPr/>
        </p:nvSpPr>
        <p:spPr>
          <a:xfrm>
            <a:off x="9144000" y="1719072"/>
            <a:ext cx="2377440" cy="658368"/>
          </a:xfrm>
          <a:prstGeom prst="rect">
            <a:avLst/>
          </a:prstGeom>
          <a:noFill/>
          <a:ln/>
        </p:spPr>
        <p:txBody>
          <a:bodyPr wrap="square" lIns="0" tIns="0" rIns="0" bIns="0" rtlCol="0" anchor="ctr"/>
          <a:lstStyle/>
          <a:p>
            <a:pPr algn="ctr" indent="0" marL="0">
              <a:buNone/>
            </a:pPr>
            <a:r>
              <a:rPr lang="en-US" sz="3400" b="1" dirty="0">
                <a:solidFill>
                  <a:srgbClr val="1C7293"/>
                </a:solidFill>
                <a:latin typeface="Cambria" pitchFamily="34" charset="0"/>
                <a:ea typeface="Cambria" pitchFamily="34" charset="-122"/>
                <a:cs typeface="Cambria" pitchFamily="34" charset="-120"/>
              </a:rPr>
              <a:t>多ラベル</a:t>
            </a:r>
            <a:endParaRPr lang="en-US" sz="3400" dirty="0"/>
          </a:p>
        </p:txBody>
      </p:sp>
      <p:sp>
        <p:nvSpPr>
          <p:cNvPr id="15" name="Text 13"/>
          <p:cNvSpPr/>
          <p:nvPr/>
        </p:nvSpPr>
        <p:spPr>
          <a:xfrm>
            <a:off x="9144000" y="2423160"/>
            <a:ext cx="2377440" cy="457200"/>
          </a:xfrm>
          <a:prstGeom prst="rect">
            <a:avLst/>
          </a:prstGeom>
          <a:noFill/>
          <a:ln/>
        </p:spPr>
        <p:txBody>
          <a:bodyPr wrap="square" lIns="0" tIns="0" rIns="0" bIns="0" rtlCol="0" anchor="ctr"/>
          <a:lstStyle/>
          <a:p>
            <a:pPr algn="ctr" indent="0" marL="0">
              <a:buNone/>
            </a:pPr>
            <a:r>
              <a:rPr lang="en-US" sz="1150" dirty="0">
                <a:solidFill>
                  <a:srgbClr val="5A6472"/>
                </a:solidFill>
                <a:latin typeface="Meiryo" pitchFamily="34" charset="0"/>
                <a:ea typeface="Meiryo" pitchFamily="34" charset="-122"/>
                <a:cs typeface="Meiryo" pitchFamily="34" charset="-120"/>
              </a:rPr>
              <a:t>1枚に複数の気圧配置が共存</a:t>
            </a:r>
            <a:endParaRPr lang="en-US" sz="11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3291840"/>
          <a:ext cx="7863840" cy="914400"/>
        </p:xfrm>
        <a:graphic>
          <a:graphicData uri="http://schemas.openxmlformats.org/drawingml/2006/table">
            <a:tbl>
              <a:tblPr/>
              <a:tblGrid>
                <a:gridCol w="2377440"/>
                <a:gridCol w="914400"/>
                <a:gridCol w="2743200"/>
                <a:gridCol w="914400"/>
              </a:tblGrid>
              <a:tr h="310896">
                <a:tc>
                  <a:txBody>
                    <a:bodyPr/>
                    <a:lstStyle/>
                    <a:p>
                      <a:pPr indent="0" marL="0">
                        <a:buNone/>
                      </a:pPr>
                      <a:r>
                        <a:rPr lang="en-US" sz="1300" b="1" dirty="0">
                          <a:solidFill>
                            <a:srgbClr val="1A1A1A"/>
                          </a:solidFill>
                          <a:latin typeface="Meiryo" pitchFamily="34" charset="0"/>
                          <a:ea typeface="Meiryo" pitchFamily="34" charset="-122"/>
                          <a:cs typeface="Meiryo" pitchFamily="34" charset="-120"/>
                        </a:rPr>
                        <a:t>ラベル</a:t>
                      </a:r>
                      <a:endParaRPr lang="en-US" sz="13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algn="r" indent="0" marL="0">
                        <a:buNone/>
                      </a:pPr>
                      <a:r>
                        <a:rPr lang="en-US" sz="1300" b="1" dirty="0">
                          <a:solidFill>
                            <a:srgbClr val="1A1A1A"/>
                          </a:solidFill>
                          <a:latin typeface="Meiryo" pitchFamily="34" charset="0"/>
                          <a:ea typeface="Meiryo" pitchFamily="34" charset="-122"/>
                          <a:cs typeface="Meiryo" pitchFamily="34" charset="-120"/>
                        </a:rPr>
                        <a:t>件数</a:t>
                      </a:r>
                      <a:endParaRPr lang="en-US" sz="13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indent="0" marL="0">
                        <a:buNone/>
                      </a:pPr>
                      <a:r>
                        <a:rPr lang="en-US" sz="1300" b="1" dirty="0">
                          <a:solidFill>
                            <a:srgbClr val="1A1A1A"/>
                          </a:solidFill>
                          <a:latin typeface="Meiryo" pitchFamily="34" charset="0"/>
                          <a:ea typeface="Meiryo" pitchFamily="34" charset="-122"/>
                          <a:cs typeface="Meiryo" pitchFamily="34" charset="-120"/>
                        </a:rPr>
                        <a:t>ラベル</a:t>
                      </a:r>
                      <a:endParaRPr lang="en-US" sz="13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algn="r" indent="0" marL="0">
                        <a:buNone/>
                      </a:pPr>
                      <a:r>
                        <a:rPr lang="en-US" sz="1300" b="1" dirty="0">
                          <a:solidFill>
                            <a:srgbClr val="1A1A1A"/>
                          </a:solidFill>
                          <a:latin typeface="Meiryo" pitchFamily="34" charset="0"/>
                          <a:ea typeface="Meiryo" pitchFamily="34" charset="-122"/>
                          <a:cs typeface="Meiryo" pitchFamily="34" charset="-120"/>
                        </a:rPr>
                        <a:t>件数</a:t>
                      </a:r>
                      <a:endParaRPr lang="en-US" sz="13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r>
              <a:tr h="310896">
                <a:tc>
                  <a:txBody>
                    <a:bodyPr/>
                    <a:lstStyle/>
                    <a:p>
                      <a:pPr indent="0" marL="0">
                        <a:buNone/>
                      </a:pPr>
                      <a:r>
                        <a:rPr lang="en-US" sz="1300" dirty="0">
                          <a:solidFill>
                            <a:srgbClr val="1A1A1A"/>
                          </a:solidFill>
                          <a:latin typeface="Meiryo" pitchFamily="34" charset="0"/>
                          <a:ea typeface="Meiryo" pitchFamily="34" charset="-122"/>
                          <a:cs typeface="Meiryo" pitchFamily="34" charset="-120"/>
                        </a:rPr>
                        <a:t>移動性高気圧</a:t>
                      </a:r>
                      <a:endParaRPr lang="en-US" sz="13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indent="0" marL="0">
                        <a:buNone/>
                      </a:pPr>
                      <a:r>
                        <a:rPr lang="en-US" sz="1300" dirty="0">
                          <a:solidFill>
                            <a:srgbClr val="1A1A1A"/>
                          </a:solidFill>
                          <a:latin typeface="Meiryo" pitchFamily="34" charset="0"/>
                          <a:ea typeface="Meiryo" pitchFamily="34" charset="-122"/>
                          <a:cs typeface="Meiryo" pitchFamily="34" charset="-120"/>
                        </a:rPr>
                        <a:t>968</a:t>
                      </a:r>
                      <a:endParaRPr lang="en-US" sz="13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indent="0" marL="0">
                        <a:buNone/>
                      </a:pPr>
                      <a:r>
                        <a:rPr lang="en-US" sz="1300" dirty="0">
                          <a:solidFill>
                            <a:srgbClr val="1A1A1A"/>
                          </a:solidFill>
                          <a:latin typeface="Meiryo" pitchFamily="34" charset="0"/>
                          <a:ea typeface="Meiryo" pitchFamily="34" charset="-122"/>
                          <a:cs typeface="Meiryo" pitchFamily="34" charset="-120"/>
                        </a:rPr>
                        <a:t>南岸低気圧</a:t>
                      </a:r>
                      <a:endParaRPr lang="en-US" sz="13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indent="0" marL="0">
                        <a:buNone/>
                      </a:pPr>
                      <a:r>
                        <a:rPr lang="en-US" sz="1300" dirty="0">
                          <a:solidFill>
                            <a:srgbClr val="1A1A1A"/>
                          </a:solidFill>
                          <a:latin typeface="Meiryo" pitchFamily="34" charset="0"/>
                          <a:ea typeface="Meiryo" pitchFamily="34" charset="-122"/>
                          <a:cs typeface="Meiryo" pitchFamily="34" charset="-120"/>
                        </a:rPr>
                        <a:t>265</a:t>
                      </a:r>
                      <a:endParaRPr lang="en-US" sz="13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r>
              <a:tr h="310896">
                <a:tc>
                  <a:txBody>
                    <a:bodyPr/>
                    <a:lstStyle/>
                    <a:p>
                      <a:pPr indent="0" marL="0">
                        <a:buNone/>
                      </a:pPr>
                      <a:r>
                        <a:rPr lang="en-US" sz="1300" dirty="0">
                          <a:solidFill>
                            <a:srgbClr val="1A1A1A"/>
                          </a:solidFill>
                          <a:latin typeface="Meiryo" pitchFamily="34" charset="0"/>
                          <a:ea typeface="Meiryo" pitchFamily="34" charset="-122"/>
                          <a:cs typeface="Meiryo" pitchFamily="34" charset="-120"/>
                        </a:rPr>
                        <a:t>停滞前線</a:t>
                      </a:r>
                      <a:endParaRPr lang="en-US" sz="13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indent="0" marL="0">
                        <a:buNone/>
                      </a:pPr>
                      <a:r>
                        <a:rPr lang="en-US" sz="1300" dirty="0">
                          <a:solidFill>
                            <a:srgbClr val="1A1A1A"/>
                          </a:solidFill>
                          <a:latin typeface="Meiryo" pitchFamily="34" charset="0"/>
                          <a:ea typeface="Meiryo" pitchFamily="34" charset="-122"/>
                          <a:cs typeface="Meiryo" pitchFamily="34" charset="-120"/>
                        </a:rPr>
                        <a:t>670</a:t>
                      </a:r>
                      <a:endParaRPr lang="en-US" sz="13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indent="0" marL="0">
                        <a:buNone/>
                      </a:pPr>
                      <a:r>
                        <a:rPr lang="en-US" sz="1300" dirty="0">
                          <a:solidFill>
                            <a:srgbClr val="1A1A1A"/>
                          </a:solidFill>
                          <a:latin typeface="Meiryo" pitchFamily="34" charset="0"/>
                          <a:ea typeface="Meiryo" pitchFamily="34" charset="-122"/>
                          <a:cs typeface="Meiryo" pitchFamily="34" charset="-120"/>
                        </a:rPr>
                        <a:t>太平洋高気圧型</a:t>
                      </a:r>
                      <a:endParaRPr lang="en-US" sz="13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indent="0" marL="0">
                        <a:buNone/>
                      </a:pPr>
                      <a:r>
                        <a:rPr lang="en-US" sz="1300" dirty="0">
                          <a:solidFill>
                            <a:srgbClr val="1A1A1A"/>
                          </a:solidFill>
                          <a:latin typeface="Meiryo" pitchFamily="34" charset="0"/>
                          <a:ea typeface="Meiryo" pitchFamily="34" charset="-122"/>
                          <a:cs typeface="Meiryo" pitchFamily="34" charset="-120"/>
                        </a:rPr>
                        <a:t>248</a:t>
                      </a:r>
                      <a:endParaRPr lang="en-US" sz="13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r>
              <a:tr h="310896">
                <a:tc>
                  <a:txBody>
                    <a:bodyPr/>
                    <a:lstStyle/>
                    <a:p>
                      <a:pPr indent="0" marL="0">
                        <a:buNone/>
                      </a:pPr>
                      <a:r>
                        <a:rPr lang="en-US" sz="1300" dirty="0">
                          <a:solidFill>
                            <a:srgbClr val="1A1A1A"/>
                          </a:solidFill>
                          <a:latin typeface="Meiryo" pitchFamily="34" charset="0"/>
                          <a:ea typeface="Meiryo" pitchFamily="34" charset="-122"/>
                          <a:cs typeface="Meiryo" pitchFamily="34" charset="-120"/>
                        </a:rPr>
                        <a:t>日本海低気圧</a:t>
                      </a:r>
                      <a:endParaRPr lang="en-US" sz="13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indent="0" marL="0">
                        <a:buNone/>
                      </a:pPr>
                      <a:r>
                        <a:rPr lang="en-US" sz="1300" dirty="0">
                          <a:solidFill>
                            <a:srgbClr val="1A1A1A"/>
                          </a:solidFill>
                          <a:latin typeface="Meiryo" pitchFamily="34" charset="0"/>
                          <a:ea typeface="Meiryo" pitchFamily="34" charset="-122"/>
                          <a:cs typeface="Meiryo" pitchFamily="34" charset="-120"/>
                        </a:rPr>
                        <a:t>430</a:t>
                      </a:r>
                      <a:endParaRPr lang="en-US" sz="13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indent="0" marL="0">
                        <a:buNone/>
                      </a:pPr>
                      <a:r>
                        <a:rPr lang="en-US" sz="1300" dirty="0">
                          <a:solidFill>
                            <a:srgbClr val="1A1A1A"/>
                          </a:solidFill>
                          <a:latin typeface="Meiryo" pitchFamily="34" charset="0"/>
                          <a:ea typeface="Meiryo" pitchFamily="34" charset="-122"/>
                          <a:cs typeface="Meiryo" pitchFamily="34" charset="-120"/>
                        </a:rPr>
                        <a:t>台風</a:t>
                      </a:r>
                      <a:endParaRPr lang="en-US" sz="13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indent="0" marL="0">
                        <a:buNone/>
                      </a:pPr>
                      <a:r>
                        <a:rPr lang="en-US" sz="1300" dirty="0">
                          <a:solidFill>
                            <a:srgbClr val="1A1A1A"/>
                          </a:solidFill>
                          <a:latin typeface="Meiryo" pitchFamily="34" charset="0"/>
                          <a:ea typeface="Meiryo" pitchFamily="34" charset="-122"/>
                          <a:cs typeface="Meiryo" pitchFamily="34" charset="-120"/>
                        </a:rPr>
                        <a:t>219</a:t>
                      </a:r>
                      <a:endParaRPr lang="en-US" sz="13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r>
              <a:tr h="310896">
                <a:tc>
                  <a:txBody>
                    <a:bodyPr/>
                    <a:lstStyle/>
                    <a:p>
                      <a:pPr indent="0" marL="0">
                        <a:buNone/>
                      </a:pPr>
                      <a:r>
                        <a:rPr lang="en-US" sz="1300" dirty="0">
                          <a:solidFill>
                            <a:srgbClr val="1A1A1A"/>
                          </a:solidFill>
                          <a:latin typeface="Meiryo" pitchFamily="34" charset="0"/>
                          <a:ea typeface="Meiryo" pitchFamily="34" charset="-122"/>
                          <a:cs typeface="Meiryo" pitchFamily="34" charset="-120"/>
                        </a:rPr>
                        <a:t>西高東低（冬型）</a:t>
                      </a:r>
                      <a:endParaRPr lang="en-US" sz="13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indent="0" marL="0">
                        <a:buNone/>
                      </a:pPr>
                      <a:r>
                        <a:rPr lang="en-US" sz="1300" dirty="0">
                          <a:solidFill>
                            <a:srgbClr val="1A1A1A"/>
                          </a:solidFill>
                          <a:latin typeface="Meiryo" pitchFamily="34" charset="0"/>
                          <a:ea typeface="Meiryo" pitchFamily="34" charset="-122"/>
                          <a:cs typeface="Meiryo" pitchFamily="34" charset="-120"/>
                        </a:rPr>
                        <a:t>377</a:t>
                      </a:r>
                      <a:endParaRPr lang="en-US" sz="13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indent="0" marL="0">
                        <a:buNone/>
                      </a:pPr>
                      <a:r>
                        <a:rPr lang="en-US" sz="1300" dirty="0">
                          <a:solidFill>
                            <a:srgbClr val="1A1A1A"/>
                          </a:solidFill>
                          <a:latin typeface="Meiryo" pitchFamily="34" charset="0"/>
                          <a:ea typeface="Meiryo" pitchFamily="34" charset="-122"/>
                          <a:cs typeface="Meiryo" pitchFamily="34" charset="-120"/>
                        </a:rPr>
                        <a:t>二つ玉低気圧</a:t>
                      </a:r>
                      <a:endParaRPr lang="en-US" sz="13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indent="0" marL="0">
                        <a:buNone/>
                      </a:pPr>
                      <a:r>
                        <a:rPr lang="en-US" sz="1300" dirty="0">
                          <a:solidFill>
                            <a:srgbClr val="1A1A1A"/>
                          </a:solidFill>
                          <a:latin typeface="Meiryo" pitchFamily="34" charset="0"/>
                          <a:ea typeface="Meiryo" pitchFamily="34" charset="-122"/>
                          <a:cs typeface="Meiryo" pitchFamily="34" charset="-120"/>
                        </a:rPr>
                        <a:t>106</a:t>
                      </a:r>
                      <a:endParaRPr lang="en-US" sz="13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r>
              <a:tr h="310896">
                <a:tc>
                  <a:txBody>
                    <a:bodyPr/>
                    <a:lstStyle/>
                    <a:p>
                      <a:pPr indent="0" marL="0">
                        <a:buNone/>
                      </a:pPr>
                      <a:r>
                        <a:rPr lang="en-US" sz="1300" dirty="0">
                          <a:solidFill>
                            <a:srgbClr val="1A1A1A"/>
                          </a:solidFill>
                          <a:latin typeface="Meiryo" pitchFamily="34" charset="0"/>
                          <a:ea typeface="Meiryo" pitchFamily="34" charset="-122"/>
                          <a:cs typeface="Meiryo" pitchFamily="34" charset="-120"/>
                        </a:rPr>
                        <a:t>前線通過</a:t>
                      </a:r>
                      <a:endParaRPr lang="en-US" sz="13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indent="0" marL="0">
                        <a:buNone/>
                      </a:pPr>
                      <a:r>
                        <a:rPr lang="en-US" sz="1300" dirty="0">
                          <a:solidFill>
                            <a:srgbClr val="1A1A1A"/>
                          </a:solidFill>
                          <a:latin typeface="Meiryo" pitchFamily="34" charset="0"/>
                          <a:ea typeface="Meiryo" pitchFamily="34" charset="-122"/>
                          <a:cs typeface="Meiryo" pitchFamily="34" charset="-120"/>
                        </a:rPr>
                        <a:t>359</a:t>
                      </a:r>
                      <a:endParaRPr lang="en-US" sz="13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indent="0" marL="0">
                        <a:buNone/>
                      </a:pPr>
                      <a:r>
                        <a:rPr lang="en-US" sz="1300" b="1" dirty="0">
                          <a:solidFill>
                            <a:srgbClr val="B3341F"/>
                          </a:solidFill>
                          <a:latin typeface="Meiryo" pitchFamily="34" charset="0"/>
                          <a:ea typeface="Meiryo" pitchFamily="34" charset="-122"/>
                          <a:cs typeface="Meiryo" pitchFamily="34" charset="-120"/>
                        </a:rPr>
                        <a:t>オホーツク海高気圧</a:t>
                      </a:r>
                      <a:endParaRPr lang="en-US" sz="13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indent="0" marL="0">
                        <a:buNone/>
                      </a:pPr>
                      <a:r>
                        <a:rPr lang="en-US" sz="1300" b="1" dirty="0">
                          <a:solidFill>
                            <a:srgbClr val="B3341F"/>
                          </a:solidFill>
                          <a:latin typeface="Meiryo" pitchFamily="34" charset="0"/>
                          <a:ea typeface="Meiryo" pitchFamily="34" charset="-122"/>
                          <a:cs typeface="Meiryo" pitchFamily="34" charset="-120"/>
                        </a:rPr>
                        <a:t>85</a:t>
                      </a:r>
                      <a:endParaRPr lang="en-US" sz="13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r>
            </a:tbl>
          </a:graphicData>
        </a:graphic>
      </p:graphicFrame>
      <p:sp>
        <p:nvSpPr>
          <p:cNvPr id="17" name="Shape 14"/>
          <p:cNvSpPr/>
          <p:nvPr/>
        </p:nvSpPr>
        <p:spPr>
          <a:xfrm>
            <a:off x="8778240" y="3291840"/>
            <a:ext cx="2834640" cy="2103120"/>
          </a:xfrm>
          <a:prstGeom prst="roundRect">
            <a:avLst>
              <a:gd name="adj" fmla="val 3478"/>
            </a:avLst>
          </a:prstGeom>
          <a:solidFill>
            <a:srgbClr val="FDF1EE"/>
          </a:solidFill>
          <a:ln/>
        </p:spPr>
      </p:sp>
      <p:sp>
        <p:nvSpPr>
          <p:cNvPr id="18" name="Text 15"/>
          <p:cNvSpPr/>
          <p:nvPr/>
        </p:nvSpPr>
        <p:spPr>
          <a:xfrm>
            <a:off x="8961120" y="3456432"/>
            <a:ext cx="2468880" cy="1828800"/>
          </a:xfrm>
          <a:prstGeom prst="rect">
            <a:avLst/>
          </a:prstGeom>
          <a:noFill/>
          <a:ln/>
        </p:spPr>
        <p:txBody>
          <a:bodyPr wrap="square" lIns="0" tIns="0" rIns="0" bIns="0" rtlCol="0" anchor="ctr"/>
          <a:lstStyle/>
          <a:p>
            <a:pPr indent="0" marL="0">
              <a:buNone/>
            </a:pPr>
            <a:r>
              <a:rPr lang="en-US" sz="1400" b="1" dirty="0">
                <a:solidFill>
                  <a:srgbClr val="B3341F"/>
                </a:solidFill>
                <a:latin typeface="Meiryo" pitchFamily="34" charset="0"/>
                <a:ea typeface="Meiryo" pitchFamily="34" charset="-122"/>
                <a:cs typeface="Meiryo" pitchFamily="34" charset="-120"/>
              </a:rPr>
              <a:t>件数の偏り
</a:t>
            </a:r>
            <a:endParaRPr lang="en-US" sz="1400" dirty="0"/>
          </a:p>
          <a:p>
            <a:pPr indent="0" marL="0">
              <a:buNone/>
            </a:pPr>
            <a:r>
              <a:rPr lang="en-US" sz="1150" dirty="0">
                <a:solidFill>
                  <a:srgbClr val="1A1A1A"/>
                </a:solidFill>
                <a:latin typeface="Meiryo" pitchFamily="34" charset="0"/>
                <a:ea typeface="Meiryo" pitchFamily="34" charset="-122"/>
                <a:cs typeface="Meiryo" pitchFamily="34" charset="-120"/>
              </a:rPr>
              <a:t>最多の移動性高気圧と最少のオホーツク海高気圧で 11倍 の差。少数ラベルが不利になるため、損失関数に重み付け（pos_weight）を行っている。</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74320"/>
          </a:xfrm>
          <a:prstGeom prst="rect">
            <a:avLst/>
          </a:prstGeom>
          <a:noFill/>
          <a:ln/>
        </p:spPr>
        <p:txBody>
          <a:bodyPr wrap="square" rtlCol="0" anchor="ctr"/>
          <a:lstStyle/>
          <a:p>
            <a:pPr indent="0" marL="0">
              <a:buNone/>
            </a:pPr>
            <a:r>
              <a:rPr lang="en-US" sz="1200" b="1" spc="100" kern="0" dirty="0">
                <a:solidFill>
                  <a:srgbClr val="1C7293"/>
                </a:solidFill>
                <a:latin typeface="Meiryo" pitchFamily="34" charset="0"/>
                <a:ea typeface="Meiryo" pitchFamily="34" charset="-122"/>
                <a:cs typeface="Meiryo" pitchFamily="34" charset="-120"/>
              </a:rPr>
              <a:t>方法論</a:t>
            </a:r>
            <a:endParaRPr lang="en-US" sz="1200" dirty="0"/>
          </a:p>
        </p:txBody>
      </p:sp>
      <p:sp>
        <p:nvSpPr>
          <p:cNvPr id="3" name="Text 1"/>
          <p:cNvSpPr/>
          <p:nvPr/>
        </p:nvSpPr>
        <p:spPr>
          <a:xfrm>
            <a:off x="548640" y="621792"/>
            <a:ext cx="11064240" cy="64008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評価方法の見直し</a:t>
            </a:r>
            <a:endParaRPr lang="en-US" sz="3200" dirty="0"/>
          </a:p>
        </p:txBody>
      </p:sp>
      <p:sp>
        <p:nvSpPr>
          <p:cNvPr id="4" name="Text 2"/>
          <p:cNvSpPr/>
          <p:nvPr/>
        </p:nvSpPr>
        <p:spPr>
          <a:xfrm>
            <a:off x="548640" y="1463040"/>
            <a:ext cx="11064240" cy="365760"/>
          </a:xfrm>
          <a:prstGeom prst="rect">
            <a:avLst/>
          </a:prstGeom>
          <a:noFill/>
          <a:ln/>
        </p:spPr>
        <p:txBody>
          <a:bodyPr wrap="square" rtlCol="0" anchor="ctr"/>
          <a:lstStyle/>
          <a:p>
            <a:pPr indent="0" marL="0">
              <a:buNone/>
            </a:pPr>
            <a:r>
              <a:rPr lang="en-US" sz="1500" dirty="0">
                <a:solidFill>
                  <a:srgbClr val="1A1A1A"/>
                </a:solidFill>
                <a:latin typeface="Meiryo" pitchFamily="34" charset="0"/>
                <a:ea typeface="Meiryo" pitchFamily="34" charset="-122"/>
                <a:cs typeface="Meiryo" pitchFamily="34" charset="-120"/>
              </a:rPr>
              <a:t>当初のランダム分割では、同じ日の00Zと12Zが学習側と評価側に分かれ、性能が過大評価されていた。</a:t>
            </a:r>
            <a:endParaRPr lang="en-US" sz="1500" dirty="0"/>
          </a:p>
        </p:txBody>
      </p:sp>
      <p:sp>
        <p:nvSpPr>
          <p:cNvPr id="5" name="Shape 3"/>
          <p:cNvSpPr/>
          <p:nvPr/>
        </p:nvSpPr>
        <p:spPr>
          <a:xfrm>
            <a:off x="548640" y="2011680"/>
            <a:ext cx="3520440" cy="2286000"/>
          </a:xfrm>
          <a:prstGeom prst="roundRect">
            <a:avLst>
              <a:gd name="adj" fmla="val 4000"/>
            </a:avLst>
          </a:prstGeom>
          <a:solidFill>
            <a:srgbClr val="FDF1EE"/>
          </a:solidFill>
          <a:ln/>
        </p:spPr>
      </p:sp>
      <p:sp>
        <p:nvSpPr>
          <p:cNvPr id="6" name="Text 4"/>
          <p:cNvSpPr/>
          <p:nvPr/>
        </p:nvSpPr>
        <p:spPr>
          <a:xfrm>
            <a:off x="777240" y="2212848"/>
            <a:ext cx="3063240" cy="320040"/>
          </a:xfrm>
          <a:prstGeom prst="rect">
            <a:avLst/>
          </a:prstGeom>
          <a:noFill/>
          <a:ln/>
        </p:spPr>
        <p:txBody>
          <a:bodyPr wrap="square" lIns="0" tIns="0" rIns="0" bIns="0" rtlCol="0" anchor="ctr"/>
          <a:lstStyle/>
          <a:p>
            <a:pPr indent="0" marL="0">
              <a:buNone/>
            </a:pPr>
            <a:r>
              <a:rPr lang="en-US" sz="1500" b="1" dirty="0">
                <a:solidFill>
                  <a:srgbClr val="B3341F"/>
                </a:solidFill>
                <a:latin typeface="Meiryo" pitchFamily="34" charset="0"/>
                <a:ea typeface="Meiryo" pitchFamily="34" charset="-122"/>
                <a:cs typeface="Meiryo" pitchFamily="34" charset="-120"/>
              </a:rPr>
              <a:t>ランダム分割（当初）</a:t>
            </a:r>
            <a:endParaRPr lang="en-US" sz="1500" dirty="0"/>
          </a:p>
        </p:txBody>
      </p:sp>
      <p:sp>
        <p:nvSpPr>
          <p:cNvPr id="7" name="Text 5"/>
          <p:cNvSpPr/>
          <p:nvPr/>
        </p:nvSpPr>
        <p:spPr>
          <a:xfrm>
            <a:off x="777240" y="2606040"/>
            <a:ext cx="3063240" cy="731520"/>
          </a:xfrm>
          <a:prstGeom prst="rect">
            <a:avLst/>
          </a:prstGeom>
          <a:noFill/>
          <a:ln/>
        </p:spPr>
        <p:txBody>
          <a:bodyPr wrap="square" lIns="0" tIns="0" rIns="0" bIns="0" rtlCol="0" anchor="ctr"/>
          <a:lstStyle/>
          <a:p>
            <a:pPr indent="0" marL="0">
              <a:buNone/>
            </a:pPr>
            <a:r>
              <a:rPr lang="en-US" sz="4000" b="1" dirty="0">
                <a:solidFill>
                  <a:srgbClr val="B3341F"/>
                </a:solidFill>
                <a:latin typeface="Cambria" pitchFamily="34" charset="0"/>
                <a:ea typeface="Cambria" pitchFamily="34" charset="-122"/>
                <a:cs typeface="Cambria" pitchFamily="34" charset="-120"/>
              </a:rPr>
              <a:t>0.75</a:t>
            </a:r>
            <a:endParaRPr lang="en-US" sz="4000" dirty="0"/>
          </a:p>
        </p:txBody>
      </p:sp>
      <p:sp>
        <p:nvSpPr>
          <p:cNvPr id="8" name="Text 6"/>
          <p:cNvSpPr/>
          <p:nvPr/>
        </p:nvSpPr>
        <p:spPr>
          <a:xfrm>
            <a:off x="777240" y="3429000"/>
            <a:ext cx="3063240" cy="777240"/>
          </a:xfrm>
          <a:prstGeom prst="rect">
            <a:avLst/>
          </a:prstGeom>
          <a:noFill/>
          <a:ln/>
        </p:spPr>
        <p:txBody>
          <a:bodyPr wrap="square" lIns="0" tIns="0" rIns="0" bIns="0" rtlCol="0" anchor="ctr"/>
          <a:lstStyle/>
          <a:p>
            <a:pPr indent="0" marL="0">
              <a:buNone/>
            </a:pPr>
            <a:r>
              <a:rPr lang="en-US" sz="1150" dirty="0">
                <a:solidFill>
                  <a:srgbClr val="5A6472"/>
                </a:solidFill>
                <a:latin typeface="Meiryo" pitchFamily="34" charset="0"/>
                <a:ea typeface="Meiryo" pitchFamily="34" charset="-122"/>
                <a:cs typeface="Meiryo" pitchFamily="34" charset="-120"/>
              </a:rPr>
              <a:t>評価画像の95%が、学習画像と1日以内。実質的に答えを見ていた。</a:t>
            </a:r>
            <a:endParaRPr lang="en-US" sz="1150" dirty="0"/>
          </a:p>
        </p:txBody>
      </p:sp>
      <p:sp>
        <p:nvSpPr>
          <p:cNvPr id="9" name="Shape 7"/>
          <p:cNvSpPr/>
          <p:nvPr/>
        </p:nvSpPr>
        <p:spPr>
          <a:xfrm>
            <a:off x="4315968" y="2011680"/>
            <a:ext cx="3520440" cy="2286000"/>
          </a:xfrm>
          <a:prstGeom prst="roundRect">
            <a:avLst>
              <a:gd name="adj" fmla="val 4000"/>
            </a:avLst>
          </a:prstGeom>
          <a:solidFill>
            <a:srgbClr val="F4F7F9"/>
          </a:solidFill>
          <a:ln/>
        </p:spPr>
      </p:sp>
      <p:sp>
        <p:nvSpPr>
          <p:cNvPr id="10" name="Text 8"/>
          <p:cNvSpPr/>
          <p:nvPr/>
        </p:nvSpPr>
        <p:spPr>
          <a:xfrm>
            <a:off x="4544568" y="2212848"/>
            <a:ext cx="3063240" cy="320040"/>
          </a:xfrm>
          <a:prstGeom prst="rect">
            <a:avLst/>
          </a:prstGeom>
          <a:noFill/>
          <a:ln/>
        </p:spPr>
        <p:txBody>
          <a:bodyPr wrap="square" lIns="0" tIns="0" rIns="0" bIns="0" rtlCol="0" anchor="ctr"/>
          <a:lstStyle/>
          <a:p>
            <a:pPr indent="0" marL="0">
              <a:buNone/>
            </a:pPr>
            <a:r>
              <a:rPr lang="en-US" sz="1500" b="1" dirty="0">
                <a:solidFill>
                  <a:srgbClr val="1C7293"/>
                </a:solidFill>
                <a:latin typeface="Meiryo" pitchFamily="34" charset="0"/>
                <a:ea typeface="Meiryo" pitchFamily="34" charset="-122"/>
                <a:cs typeface="Meiryo" pitchFamily="34" charset="-120"/>
              </a:rPr>
              <a:t>時間ブロック分割</a:t>
            </a:r>
            <a:endParaRPr lang="en-US" sz="1500" dirty="0"/>
          </a:p>
        </p:txBody>
      </p:sp>
      <p:sp>
        <p:nvSpPr>
          <p:cNvPr id="11" name="Text 9"/>
          <p:cNvSpPr/>
          <p:nvPr/>
        </p:nvSpPr>
        <p:spPr>
          <a:xfrm>
            <a:off x="4544568" y="2606040"/>
            <a:ext cx="3063240" cy="731520"/>
          </a:xfrm>
          <a:prstGeom prst="rect">
            <a:avLst/>
          </a:prstGeom>
          <a:noFill/>
          <a:ln/>
        </p:spPr>
        <p:txBody>
          <a:bodyPr wrap="square" lIns="0" tIns="0" rIns="0" bIns="0" rtlCol="0" anchor="ctr"/>
          <a:lstStyle/>
          <a:p>
            <a:pPr indent="0" marL="0">
              <a:buNone/>
            </a:pPr>
            <a:r>
              <a:rPr lang="en-US" sz="4000" b="1" dirty="0">
                <a:solidFill>
                  <a:srgbClr val="1C7293"/>
                </a:solidFill>
                <a:latin typeface="Cambria" pitchFamily="34" charset="0"/>
                <a:ea typeface="Cambria" pitchFamily="34" charset="-122"/>
                <a:cs typeface="Cambria" pitchFamily="34" charset="-120"/>
              </a:rPr>
              <a:t>0.62</a:t>
            </a:r>
            <a:endParaRPr lang="en-US" sz="4000" dirty="0"/>
          </a:p>
        </p:txBody>
      </p:sp>
      <p:sp>
        <p:nvSpPr>
          <p:cNvPr id="12" name="Text 10"/>
          <p:cNvSpPr/>
          <p:nvPr/>
        </p:nvSpPr>
        <p:spPr>
          <a:xfrm>
            <a:off x="4544568" y="3429000"/>
            <a:ext cx="3063240" cy="777240"/>
          </a:xfrm>
          <a:prstGeom prst="rect">
            <a:avLst/>
          </a:prstGeom>
          <a:noFill/>
          <a:ln/>
        </p:spPr>
        <p:txBody>
          <a:bodyPr wrap="square" lIns="0" tIns="0" rIns="0" bIns="0" rtlCol="0" anchor="ctr"/>
          <a:lstStyle/>
          <a:p>
            <a:pPr indent="0" marL="0">
              <a:buNone/>
            </a:pPr>
            <a:r>
              <a:rPr lang="en-US" sz="1150" dirty="0">
                <a:solidFill>
                  <a:srgbClr val="5A6472"/>
                </a:solidFill>
                <a:latin typeface="Meiryo" pitchFamily="34" charset="0"/>
                <a:ea typeface="Meiryo" pitchFamily="34" charset="-122"/>
                <a:cs typeface="Meiryo" pitchFamily="34" charset="-120"/>
              </a:rPr>
              <a:t>学習と評価を時期で完全に分離。前後3日を除外（purging）。</a:t>
            </a:r>
            <a:endParaRPr lang="en-US" sz="1150" dirty="0"/>
          </a:p>
        </p:txBody>
      </p:sp>
      <p:sp>
        <p:nvSpPr>
          <p:cNvPr id="13" name="Shape 11"/>
          <p:cNvSpPr/>
          <p:nvPr/>
        </p:nvSpPr>
        <p:spPr>
          <a:xfrm>
            <a:off x="8092440" y="2011680"/>
            <a:ext cx="3520440" cy="2286000"/>
          </a:xfrm>
          <a:prstGeom prst="roundRect">
            <a:avLst>
              <a:gd name="adj" fmla="val 4000"/>
            </a:avLst>
          </a:prstGeom>
          <a:solidFill>
            <a:srgbClr val="F4F7F9"/>
          </a:solidFill>
          <a:ln/>
        </p:spPr>
      </p:sp>
      <p:sp>
        <p:nvSpPr>
          <p:cNvPr id="14" name="Text 12"/>
          <p:cNvSpPr/>
          <p:nvPr/>
        </p:nvSpPr>
        <p:spPr>
          <a:xfrm>
            <a:off x="8321040" y="2212848"/>
            <a:ext cx="3063240" cy="320040"/>
          </a:xfrm>
          <a:prstGeom prst="rect">
            <a:avLst/>
          </a:prstGeom>
          <a:noFill/>
          <a:ln/>
        </p:spPr>
        <p:txBody>
          <a:bodyPr wrap="square" lIns="0" tIns="0" rIns="0" bIns="0" rtlCol="0" anchor="ctr"/>
          <a:lstStyle/>
          <a:p>
            <a:pPr indent="0" marL="0">
              <a:buNone/>
            </a:pPr>
            <a:r>
              <a:rPr lang="en-US" sz="1500" b="1" dirty="0">
                <a:solidFill>
                  <a:srgbClr val="065A82"/>
                </a:solidFill>
                <a:latin typeface="Meiryo" pitchFamily="34" charset="0"/>
                <a:ea typeface="Meiryo" pitchFamily="34" charset="-122"/>
                <a:cs typeface="Meiryo" pitchFamily="34" charset="-120"/>
              </a:rPr>
              <a:t>交差検証（最終）</a:t>
            </a:r>
            <a:endParaRPr lang="en-US" sz="1500" dirty="0"/>
          </a:p>
        </p:txBody>
      </p:sp>
      <p:sp>
        <p:nvSpPr>
          <p:cNvPr id="15" name="Text 13"/>
          <p:cNvSpPr/>
          <p:nvPr/>
        </p:nvSpPr>
        <p:spPr>
          <a:xfrm>
            <a:off x="8321040" y="2606040"/>
            <a:ext cx="3063240" cy="731520"/>
          </a:xfrm>
          <a:prstGeom prst="rect">
            <a:avLst/>
          </a:prstGeom>
          <a:noFill/>
          <a:ln/>
        </p:spPr>
        <p:txBody>
          <a:bodyPr wrap="square" lIns="0" tIns="0" rIns="0" bIns="0" rtlCol="0" anchor="ctr"/>
          <a:lstStyle/>
          <a:p>
            <a:pPr indent="0" marL="0">
              <a:buNone/>
            </a:pPr>
            <a:r>
              <a:rPr lang="en-US" sz="4000" b="1" dirty="0">
                <a:solidFill>
                  <a:srgbClr val="065A82"/>
                </a:solidFill>
                <a:latin typeface="Cambria" pitchFamily="34" charset="0"/>
                <a:ea typeface="Cambria" pitchFamily="34" charset="-122"/>
                <a:cs typeface="Cambria" pitchFamily="34" charset="-120"/>
              </a:rPr>
              <a:t>0.613</a:t>
            </a:r>
            <a:endParaRPr lang="en-US" sz="4000" dirty="0"/>
          </a:p>
        </p:txBody>
      </p:sp>
      <p:sp>
        <p:nvSpPr>
          <p:cNvPr id="16" name="Text 14"/>
          <p:cNvSpPr/>
          <p:nvPr/>
        </p:nvSpPr>
        <p:spPr>
          <a:xfrm>
            <a:off x="8321040" y="3429000"/>
            <a:ext cx="3063240" cy="777240"/>
          </a:xfrm>
          <a:prstGeom prst="rect">
            <a:avLst/>
          </a:prstGeom>
          <a:noFill/>
          <a:ln/>
        </p:spPr>
        <p:txBody>
          <a:bodyPr wrap="square" lIns="0" tIns="0" rIns="0" bIns="0" rtlCol="0" anchor="ctr"/>
          <a:lstStyle/>
          <a:p>
            <a:pPr indent="0" marL="0">
              <a:buNone/>
            </a:pPr>
            <a:r>
              <a:rPr lang="en-US" sz="1150" dirty="0">
                <a:solidFill>
                  <a:srgbClr val="5A6472"/>
                </a:solidFill>
                <a:latin typeface="Meiryo" pitchFamily="34" charset="0"/>
                <a:ea typeface="Meiryo" pitchFamily="34" charset="-122"/>
                <a:cs typeface="Meiryo" pitchFamily="34" charset="-120"/>
              </a:rPr>
              <a:t>各年を順にテストに使い3回の平均。± 0.006 と安定。</a:t>
            </a:r>
            <a:endParaRPr lang="en-US" sz="1150" dirty="0"/>
          </a:p>
        </p:txBody>
      </p:sp>
      <p:sp>
        <p:nvSpPr>
          <p:cNvPr id="17" name="Shape 15"/>
          <p:cNvSpPr/>
          <p:nvPr/>
        </p:nvSpPr>
        <p:spPr>
          <a:xfrm>
            <a:off x="548640" y="4526280"/>
            <a:ext cx="11064240" cy="1051560"/>
          </a:xfrm>
          <a:prstGeom prst="roundRect">
            <a:avLst>
              <a:gd name="adj" fmla="val 6957"/>
            </a:avLst>
          </a:prstGeom>
          <a:solidFill>
            <a:srgbClr val="21295C"/>
          </a:solidFill>
          <a:ln/>
        </p:spPr>
      </p:sp>
      <p:sp>
        <p:nvSpPr>
          <p:cNvPr id="18" name="Text 16"/>
          <p:cNvSpPr/>
          <p:nvPr/>
        </p:nvSpPr>
        <p:spPr>
          <a:xfrm>
            <a:off x="822960" y="4663440"/>
            <a:ext cx="10515600" cy="822960"/>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報告する数値は 0.613 とする。</a:t>
            </a:r>
            <a:endParaRPr lang="en-US" sz="1500" dirty="0"/>
          </a:p>
          <a:p>
            <a:pPr indent="0" marL="0">
              <a:buNone/>
            </a:pPr>
            <a:r>
              <a:rPr lang="en-US" sz="1250" dirty="0">
                <a:solidFill>
                  <a:srgbClr val="CADCFC"/>
                </a:solidFill>
                <a:latin typeface="Meiryo" pitchFamily="34" charset="0"/>
                <a:ea typeface="Meiryo" pitchFamily="34" charset="-122"/>
                <a:cs typeface="Meiryo" pitchFamily="34" charset="-120"/>
              </a:rPr>
              <a:t>0.75 は評価設計の誤りによる過大評価であり、使用しない。低い数値を採ることが、実運用で得られる性能を正しく示す。</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74320"/>
          </a:xfrm>
          <a:prstGeom prst="rect">
            <a:avLst/>
          </a:prstGeom>
          <a:noFill/>
          <a:ln/>
        </p:spPr>
        <p:txBody>
          <a:bodyPr wrap="square" rtlCol="0" anchor="ctr"/>
          <a:lstStyle/>
          <a:p>
            <a:pPr indent="0" marL="0">
              <a:buNone/>
            </a:pPr>
            <a:r>
              <a:rPr lang="en-US" sz="1200" b="1" spc="100" kern="0" dirty="0">
                <a:solidFill>
                  <a:srgbClr val="1C7293"/>
                </a:solidFill>
                <a:latin typeface="Meiryo" pitchFamily="34" charset="0"/>
                <a:ea typeface="Meiryo" pitchFamily="34" charset="-122"/>
                <a:cs typeface="Meiryo" pitchFamily="34" charset="-120"/>
              </a:rPr>
              <a:t>現在の到達点</a:t>
            </a:r>
            <a:endParaRPr lang="en-US" sz="1200" dirty="0"/>
          </a:p>
        </p:txBody>
      </p:sp>
      <p:sp>
        <p:nvSpPr>
          <p:cNvPr id="3" name="Text 1"/>
          <p:cNvSpPr/>
          <p:nvPr/>
        </p:nvSpPr>
        <p:spPr>
          <a:xfrm>
            <a:off x="548640" y="621792"/>
            <a:ext cx="11064240" cy="64008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ラベル別の成績と改善</a:t>
            </a:r>
            <a:endParaRPr lang="en-US" sz="3200" dirty="0"/>
          </a:p>
        </p:txBody>
      </p:sp>
      <p:graphicFrame>
        <p:nvGraphicFramePr>
          <p:cNvPr id="4" name="Chart 0" descr=""/>
          <p:cNvGraphicFramePr/>
          <p:nvPr/>
        </p:nvGraphicFramePr>
        <p:xfrm>
          <a:off x="457200" y="1417320"/>
          <a:ext cx="7863840" cy="48463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595360" y="1417320"/>
            <a:ext cx="3063240" cy="2148840"/>
          </a:xfrm>
          <a:prstGeom prst="roundRect">
            <a:avLst>
              <a:gd name="adj" fmla="val 3404"/>
            </a:avLst>
          </a:prstGeom>
          <a:solidFill>
            <a:srgbClr val="F4F7F9"/>
          </a:solidFill>
          <a:ln/>
        </p:spPr>
      </p:sp>
      <p:sp>
        <p:nvSpPr>
          <p:cNvPr id="6" name="Text 3"/>
          <p:cNvSpPr/>
          <p:nvPr/>
        </p:nvSpPr>
        <p:spPr>
          <a:xfrm>
            <a:off x="8778240" y="1600200"/>
            <a:ext cx="2697480" cy="1828800"/>
          </a:xfrm>
          <a:prstGeom prst="rect">
            <a:avLst/>
          </a:prstGeom>
          <a:noFill/>
          <a:ln/>
        </p:spPr>
        <p:txBody>
          <a:bodyPr wrap="square" lIns="0" tIns="0" rIns="0" bIns="0" rtlCol="0" anchor="ctr"/>
          <a:lstStyle/>
          <a:p>
            <a:pPr indent="0" marL="0">
              <a:buNone/>
            </a:pPr>
            <a:r>
              <a:rPr lang="en-US" sz="1200" dirty="0">
                <a:solidFill>
                  <a:srgbClr val="5A6472"/>
                </a:solidFill>
                <a:latin typeface="Meiryo" pitchFamily="34" charset="0"/>
                <a:ea typeface="Meiryo" pitchFamily="34" charset="-122"/>
                <a:cs typeface="Meiryo" pitchFamily="34" charset="-120"/>
              </a:rPr>
              <a:t>全体 macro F1
</a:t>
            </a:r>
            <a:endParaRPr lang="en-US" sz="1200" dirty="0"/>
          </a:p>
          <a:p>
            <a:pPr indent="0" marL="0">
              <a:buNone/>
            </a:pPr>
            <a:r>
              <a:rPr lang="en-US" sz="2600" b="1" dirty="0">
                <a:solidFill>
                  <a:srgbClr val="065A82"/>
                </a:solidFill>
                <a:latin typeface="Cambria" pitchFamily="34" charset="0"/>
                <a:ea typeface="Cambria" pitchFamily="34" charset="-122"/>
                <a:cs typeface="Cambria" pitchFamily="34" charset="-120"/>
              </a:rPr>
              <a:t>0.613  →  0.630
</a:t>
            </a:r>
            <a:endParaRPr lang="en-US" sz="1200" dirty="0"/>
          </a:p>
          <a:p>
            <a:pPr indent="0" marL="0">
              <a:buNone/>
            </a:pPr>
            <a:r>
              <a:rPr lang="en-US" sz="1150" dirty="0">
                <a:solidFill>
                  <a:srgbClr val="1A1A1A"/>
                </a:solidFill>
                <a:latin typeface="Meiryo" pitchFamily="34" charset="0"/>
                <a:ea typeface="Meiryo" pitchFamily="34" charset="-122"/>
                <a:cs typeface="Meiryo" pitchFamily="34" charset="-120"/>
              </a:rPr>
              <a:t>位置で定義される3ラベルが最も改善した。畳み込みは平行移動に対して同じ反応をするため、位置そのものを与えた。</a:t>
            </a:r>
            <a:endParaRPr lang="en-US" sz="1200" dirty="0"/>
          </a:p>
        </p:txBody>
      </p:sp>
      <p:sp>
        <p:nvSpPr>
          <p:cNvPr id="7" name="Text 4"/>
          <p:cNvSpPr/>
          <p:nvPr/>
        </p:nvSpPr>
        <p:spPr>
          <a:xfrm>
            <a:off x="8778240" y="3794760"/>
            <a:ext cx="2697480" cy="2286000"/>
          </a:xfrm>
          <a:prstGeom prst="rect">
            <a:avLst/>
          </a:prstGeom>
          <a:noFill/>
          <a:ln/>
        </p:spPr>
        <p:txBody>
          <a:bodyPr wrap="square" lIns="0" tIns="0" rIns="0" bIns="0" rtlCol="0" anchor="ctr"/>
          <a:lstStyle/>
          <a:p>
            <a:pPr indent="0" marL="0">
              <a:buNone/>
            </a:pPr>
            <a:r>
              <a:rPr lang="en-US" sz="1250" b="1" dirty="0">
                <a:solidFill>
                  <a:srgbClr val="1A1A1A"/>
                </a:solidFill>
                <a:latin typeface="Meiryo" pitchFamily="34" charset="0"/>
                <a:ea typeface="Meiryo" pitchFamily="34" charset="-122"/>
                <a:cs typeface="Meiryo" pitchFamily="34" charset="-120"/>
              </a:rPr>
              <a:t>改善幅の上位3つ
</a:t>
            </a:r>
            <a:endParaRPr lang="en-US" sz="1250" dirty="0"/>
          </a:p>
          <a:p>
            <a:pPr indent="0" marL="0">
              <a:buNone/>
            </a:pPr>
            <a:r>
              <a:rPr lang="en-US" sz="1250" b="1" dirty="0">
                <a:solidFill>
                  <a:srgbClr val="B3341F"/>
                </a:solidFill>
                <a:latin typeface="Meiryo" pitchFamily="34" charset="0"/>
                <a:ea typeface="Meiryo" pitchFamily="34" charset="-122"/>
                <a:cs typeface="Meiryo" pitchFamily="34" charset="-120"/>
              </a:rPr>
              <a:t>オホーツク海高気圧  +0.085
</a:t>
            </a:r>
            <a:endParaRPr lang="en-US" sz="1250" dirty="0"/>
          </a:p>
          <a:p>
            <a:pPr indent="0" marL="0">
              <a:buNone/>
            </a:pPr>
            <a:r>
              <a:rPr lang="en-US" sz="1250" dirty="0">
                <a:solidFill>
                  <a:srgbClr val="1A1A1A"/>
                </a:solidFill>
                <a:latin typeface="Meiryo" pitchFamily="34" charset="0"/>
                <a:ea typeface="Meiryo" pitchFamily="34" charset="-122"/>
                <a:cs typeface="Meiryo" pitchFamily="34" charset="-120"/>
              </a:rPr>
              <a:t>太平洋高気圧型  +0.058
</a:t>
            </a:r>
            <a:endParaRPr lang="en-US" sz="1250" dirty="0"/>
          </a:p>
          <a:p>
            <a:pPr indent="0" marL="0">
              <a:buNone/>
            </a:pPr>
            <a:r>
              <a:rPr lang="en-US" sz="1250" dirty="0">
                <a:solidFill>
                  <a:srgbClr val="1A1A1A"/>
                </a:solidFill>
                <a:latin typeface="Meiryo" pitchFamily="34" charset="0"/>
                <a:ea typeface="Meiryo" pitchFamily="34" charset="-122"/>
                <a:cs typeface="Meiryo" pitchFamily="34" charset="-120"/>
              </a:rPr>
              <a:t>南岸低気圧  +0.037
</a:t>
            </a:r>
            <a:endParaRPr lang="en-US" sz="1250" dirty="0"/>
          </a:p>
          <a:p>
            <a:pPr indent="0" marL="0">
              <a:buNone/>
            </a:pPr>
            <a:r>
              <a:rPr lang="en-US" sz="1100" dirty="0">
                <a:solidFill>
                  <a:srgbClr val="5A6472"/>
                </a:solidFill>
                <a:latin typeface="Meiryo" pitchFamily="34" charset="0"/>
                <a:ea typeface="Meiryo" pitchFamily="34" charset="-122"/>
                <a:cs typeface="Meiryo" pitchFamily="34" charset="-120"/>
              </a:rPr>
              <a:t>いずれも「どこにあるか」が定義に含まれるラベル。仮説どおりの結果。</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74320"/>
          </a:xfrm>
          <a:prstGeom prst="rect">
            <a:avLst/>
          </a:prstGeom>
          <a:noFill/>
          <a:ln/>
        </p:spPr>
        <p:txBody>
          <a:bodyPr wrap="square" rtlCol="0" anchor="ctr"/>
          <a:lstStyle/>
          <a:p>
            <a:pPr indent="0" marL="0">
              <a:buNone/>
            </a:pPr>
            <a:r>
              <a:rPr lang="en-US" sz="1200" b="1" spc="100" kern="0" dirty="0">
                <a:solidFill>
                  <a:srgbClr val="1C7293"/>
                </a:solidFill>
                <a:latin typeface="Meiryo" pitchFamily="34" charset="0"/>
                <a:ea typeface="Meiryo" pitchFamily="34" charset="-122"/>
                <a:cs typeface="Meiryo" pitchFamily="34" charset="-120"/>
              </a:rPr>
              <a:t>担当教官からの課題</a:t>
            </a:r>
            <a:endParaRPr lang="en-US" sz="1200" dirty="0"/>
          </a:p>
        </p:txBody>
      </p:sp>
      <p:sp>
        <p:nvSpPr>
          <p:cNvPr id="3" name="Text 1"/>
          <p:cNvSpPr/>
          <p:nvPr/>
        </p:nvSpPr>
        <p:spPr>
          <a:xfrm>
            <a:off x="548640" y="621792"/>
            <a:ext cx="11064240" cy="64008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学習データ量と性能の関係</a:t>
            </a:r>
            <a:endParaRPr lang="en-US" sz="3200" dirty="0"/>
          </a:p>
        </p:txBody>
      </p:sp>
      <p:pic>
        <p:nvPicPr>
          <p:cNvPr id="4" name="Image 0" descr="preencoded.png">    </p:cNvPr>
          <p:cNvPicPr>
            <a:picLocks noChangeAspect="1"/>
          </p:cNvPicPr>
          <p:nvPr/>
        </p:nvPicPr>
        <p:blipFill>
          <a:blip r:embed="rId1"/>
          <a:stretch>
            <a:fillRect/>
          </a:stretch>
        </p:blipFill>
        <p:spPr>
          <a:xfrm>
            <a:off x="457200" y="1371600"/>
            <a:ext cx="7223760" cy="4334256"/>
          </a:xfrm>
          <a:prstGeom prst="rect">
            <a:avLst/>
          </a:prstGeom>
        </p:spPr>
      </p:pic>
      <p:sp>
        <p:nvSpPr>
          <p:cNvPr id="5" name="Text 2"/>
          <p:cNvSpPr/>
          <p:nvPr/>
        </p:nvSpPr>
        <p:spPr>
          <a:xfrm>
            <a:off x="457200" y="5806440"/>
            <a:ext cx="7223760" cy="274320"/>
          </a:xfrm>
          <a:prstGeom prst="rect">
            <a:avLst/>
          </a:prstGeom>
          <a:noFill/>
          <a:ln/>
        </p:spPr>
        <p:txBody>
          <a:bodyPr wrap="square" lIns="0" tIns="0" rIns="0" bIns="0" rtlCol="0" anchor="ctr"/>
          <a:lstStyle/>
          <a:p>
            <a:pPr indent="0" marL="0">
              <a:buNone/>
            </a:pPr>
            <a:r>
              <a:rPr lang="en-US" sz="1050" dirty="0">
                <a:solidFill>
                  <a:srgbClr val="5A6472"/>
                </a:solidFill>
                <a:latin typeface="Meiryo" pitchFamily="34" charset="0"/>
                <a:ea typeface="Meiryo" pitchFamily="34" charset="-122"/>
                <a:cs typeface="Meiryo" pitchFamily="34" charset="-120"/>
              </a:rPr>
              <a:t>同一のテストセット（2025年通年 718枚）で、学習件数だけを変えて測定</a:t>
            </a:r>
            <a:endParaRPr lang="en-US" sz="1050" dirty="0"/>
          </a:p>
        </p:txBody>
      </p:sp>
      <p:sp>
        <p:nvSpPr>
          <p:cNvPr id="6" name="Shape 3"/>
          <p:cNvSpPr/>
          <p:nvPr/>
        </p:nvSpPr>
        <p:spPr>
          <a:xfrm>
            <a:off x="7955280" y="1371600"/>
            <a:ext cx="3703320" cy="1965960"/>
          </a:xfrm>
          <a:prstGeom prst="roundRect">
            <a:avLst>
              <a:gd name="adj" fmla="val 3721"/>
            </a:avLst>
          </a:prstGeom>
          <a:solidFill>
            <a:srgbClr val="F4F7F9"/>
          </a:solidFill>
          <a:ln/>
        </p:spPr>
      </p:sp>
      <p:sp>
        <p:nvSpPr>
          <p:cNvPr id="7" name="Text 4"/>
          <p:cNvSpPr/>
          <p:nvPr/>
        </p:nvSpPr>
        <p:spPr>
          <a:xfrm>
            <a:off x="8138160" y="1536192"/>
            <a:ext cx="3337560" cy="1645920"/>
          </a:xfrm>
          <a:prstGeom prst="rect">
            <a:avLst/>
          </a:prstGeom>
          <a:noFill/>
          <a:ln/>
        </p:spPr>
        <p:txBody>
          <a:bodyPr wrap="square" lIns="0" tIns="0" rIns="0" bIns="0" rtlCol="0" anchor="ctr"/>
          <a:lstStyle/>
          <a:p>
            <a:pPr indent="0" marL="0">
              <a:buNone/>
            </a:pPr>
            <a:r>
              <a:rPr lang="en-US" sz="1400" b="1" dirty="0">
                <a:solidFill>
                  <a:srgbClr val="065A82"/>
                </a:solidFill>
                <a:latin typeface="Meiryo" pitchFamily="34" charset="0"/>
                <a:ea typeface="Meiryo" pitchFamily="34" charset="-122"/>
                <a:cs typeface="Meiryo" pitchFamily="34" charset="-120"/>
              </a:rPr>
              <a:t>収穫逓減が明確
</a:t>
            </a:r>
            <a:endParaRPr lang="en-US" sz="1400" dirty="0"/>
          </a:p>
          <a:p>
            <a:pPr indent="0" marL="0">
              <a:buNone/>
            </a:pPr>
            <a:r>
              <a:rPr lang="en-US" sz="1150" dirty="0">
                <a:solidFill>
                  <a:srgbClr val="1A1A1A"/>
                </a:solidFill>
                <a:latin typeface="Meiryo" pitchFamily="34" charset="0"/>
                <a:ea typeface="Meiryo" pitchFamily="34" charset="-122"/>
                <a:cs typeface="Meiryo" pitchFamily="34" charset="-120"/>
              </a:rPr>
              <a:t>100→300件では100件あたり +0.073 伸びたが、900→1155件では +0.007。伸び幅は 10分の1 に落ちている。</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955280" y="3611880"/>
          <a:ext cx="3703320" cy="914400"/>
        </p:xfrm>
        <a:graphic>
          <a:graphicData uri="http://schemas.openxmlformats.org/drawingml/2006/table">
            <a:tbl>
              <a:tblPr/>
              <a:tblGrid>
                <a:gridCol w="1828800"/>
                <a:gridCol w="1874520"/>
              </a:tblGrid>
              <a:tr h="329184">
                <a:tc>
                  <a:txBody>
                    <a:bodyPr/>
                    <a:lstStyle/>
                    <a:p>
                      <a:pPr indent="0" marL="0">
                        <a:buNone/>
                      </a:pPr>
                      <a:r>
                        <a:rPr lang="en-US" sz="1200" b="1" dirty="0">
                          <a:solidFill>
                            <a:srgbClr val="1A1A1A"/>
                          </a:solidFill>
                          <a:latin typeface="Meiryo" pitchFamily="34" charset="0"/>
                          <a:ea typeface="Meiryo" pitchFamily="34" charset="-122"/>
                          <a:cs typeface="Meiryo" pitchFamily="34" charset="-120"/>
                        </a:rPr>
                        <a:t>目標</a:t>
                      </a:r>
                      <a:endParaRPr lang="en-US" sz="12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algn="r" indent="0" marL="0">
                        <a:buNone/>
                      </a:pPr>
                      <a:r>
                        <a:rPr lang="en-US" sz="1200" b="1" dirty="0">
                          <a:solidFill>
                            <a:srgbClr val="1A1A1A"/>
                          </a:solidFill>
                          <a:latin typeface="Meiryo" pitchFamily="34" charset="0"/>
                          <a:ea typeface="Meiryo" pitchFamily="34" charset="-122"/>
                          <a:cs typeface="Meiryo" pitchFamily="34" charset="-120"/>
                        </a:rPr>
                        <a:t>必要な追加ラベリング</a:t>
                      </a:r>
                      <a:endParaRPr lang="en-US" sz="12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r>
              <a:tr h="329184">
                <a:tc>
                  <a:txBody>
                    <a:bodyPr/>
                    <a:lstStyle/>
                    <a:p>
                      <a:pPr indent="0" marL="0">
                        <a:buNone/>
                      </a:pPr>
                      <a:r>
                        <a:rPr lang="en-US" sz="1200" dirty="0">
                          <a:solidFill>
                            <a:srgbClr val="1A1A1A"/>
                          </a:solidFill>
                          <a:latin typeface="Meiryo" pitchFamily="34" charset="0"/>
                          <a:ea typeface="Meiryo" pitchFamily="34" charset="-122"/>
                          <a:cs typeface="Meiryo" pitchFamily="34" charset="-120"/>
                        </a:rPr>
                        <a:t>0.610 → 0.63</a:t>
                      </a:r>
                      <a:endParaRPr lang="en-US" sz="12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indent="0" marL="0">
                        <a:buNone/>
                      </a:pPr>
                      <a:r>
                        <a:rPr lang="en-US" sz="1200" dirty="0">
                          <a:solidFill>
                            <a:srgbClr val="1A1A1A"/>
                          </a:solidFill>
                          <a:latin typeface="Meiryo" pitchFamily="34" charset="0"/>
                          <a:ea typeface="Meiryo" pitchFamily="34" charset="-122"/>
                          <a:cs typeface="Meiryo" pitchFamily="34" charset="-120"/>
                        </a:rPr>
                        <a:t>約 270枚</a:t>
                      </a:r>
                      <a:endParaRPr lang="en-US" sz="12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r>
              <a:tr h="329184">
                <a:tc>
                  <a:txBody>
                    <a:bodyPr/>
                    <a:lstStyle/>
                    <a:p>
                      <a:pPr indent="0" marL="0">
                        <a:buNone/>
                      </a:pPr>
                      <a:r>
                        <a:rPr lang="en-US" sz="1200" dirty="0">
                          <a:solidFill>
                            <a:srgbClr val="1A1A1A"/>
                          </a:solidFill>
                          <a:latin typeface="Meiryo" pitchFamily="34" charset="0"/>
                          <a:ea typeface="Meiryo" pitchFamily="34" charset="-122"/>
                          <a:cs typeface="Meiryo" pitchFamily="34" charset="-120"/>
                        </a:rPr>
                        <a:t>0.610 → 0.66</a:t>
                      </a:r>
                      <a:endParaRPr lang="en-US" sz="12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indent="0" marL="0">
                        <a:buNone/>
                      </a:pPr>
                      <a:r>
                        <a:rPr lang="en-US" sz="1200" dirty="0">
                          <a:solidFill>
                            <a:srgbClr val="1A1A1A"/>
                          </a:solidFill>
                          <a:latin typeface="Meiryo" pitchFamily="34" charset="0"/>
                          <a:ea typeface="Meiryo" pitchFamily="34" charset="-122"/>
                          <a:cs typeface="Meiryo" pitchFamily="34" charset="-120"/>
                        </a:rPr>
                        <a:t>約 780枚</a:t>
                      </a:r>
                      <a:endParaRPr lang="en-US" sz="12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r>
              <a:tr h="329184">
                <a:tc>
                  <a:txBody>
                    <a:bodyPr/>
                    <a:lstStyle/>
                    <a:p>
                      <a:pPr indent="0" marL="0">
                        <a:buNone/>
                      </a:pPr>
                      <a:r>
                        <a:rPr lang="en-US" sz="1200" dirty="0">
                          <a:solidFill>
                            <a:srgbClr val="1A1A1A"/>
                          </a:solidFill>
                          <a:latin typeface="Meiryo" pitchFamily="34" charset="0"/>
                          <a:ea typeface="Meiryo" pitchFamily="34" charset="-122"/>
                          <a:cs typeface="Meiryo" pitchFamily="34" charset="-120"/>
                        </a:rPr>
                        <a:t>0.610 → 0.71</a:t>
                      </a:r>
                      <a:endParaRPr lang="en-US" sz="12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indent="0" marL="0">
                        <a:buNone/>
                      </a:pPr>
                      <a:r>
                        <a:rPr lang="en-US" sz="1200" dirty="0">
                          <a:solidFill>
                            <a:srgbClr val="1A1A1A"/>
                          </a:solidFill>
                          <a:latin typeface="Meiryo" pitchFamily="34" charset="0"/>
                          <a:ea typeface="Meiryo" pitchFamily="34" charset="-122"/>
                          <a:cs typeface="Meiryo" pitchFamily="34" charset="-120"/>
                        </a:rPr>
                        <a:t>約 2,100枚</a:t>
                      </a:r>
                      <a:endParaRPr lang="en-US" sz="120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r>
            </a:tbl>
          </a:graphicData>
        </a:graphic>
      </p:graphicFrame>
      <p:sp>
        <p:nvSpPr>
          <p:cNvPr id="9" name="Text 5"/>
          <p:cNvSpPr/>
          <p:nvPr/>
        </p:nvSpPr>
        <p:spPr>
          <a:xfrm>
            <a:off x="7955280" y="5120640"/>
            <a:ext cx="3703320" cy="640080"/>
          </a:xfrm>
          <a:prstGeom prst="rect">
            <a:avLst/>
          </a:prstGeom>
          <a:noFill/>
          <a:ln/>
        </p:spPr>
        <p:txBody>
          <a:bodyPr wrap="square" lIns="0" tIns="0" rIns="0" bIns="0" rtlCol="0" anchor="ctr"/>
          <a:lstStyle/>
          <a:p>
            <a:pPr indent="0" marL="0">
              <a:buNone/>
            </a:pPr>
            <a:r>
              <a:rPr lang="en-US" sz="1050" i="1" dirty="0">
                <a:solidFill>
                  <a:srgbClr val="5A6472"/>
                </a:solidFill>
                <a:latin typeface="Meiryo" pitchFamily="34" charset="0"/>
                <a:ea typeface="Meiryo" pitchFamily="34" charset="-122"/>
                <a:cs typeface="Meiryo" pitchFamily="34" charset="-120"/>
              </a:rPr>
              <a:t>F1 = 0.097 × ln(件数) − 0.058　（R² = 0.96）の外挿。実測ではない点に注意。</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74320"/>
          </a:xfrm>
          <a:prstGeom prst="rect">
            <a:avLst/>
          </a:prstGeom>
          <a:noFill/>
          <a:ln/>
        </p:spPr>
        <p:txBody>
          <a:bodyPr wrap="square" rtlCol="0" anchor="ctr"/>
          <a:lstStyle/>
          <a:p>
            <a:pPr indent="0" marL="0">
              <a:buNone/>
            </a:pPr>
            <a:r>
              <a:rPr lang="en-US" sz="1200" b="1" spc="100" kern="0" dirty="0">
                <a:solidFill>
                  <a:srgbClr val="1C7293"/>
                </a:solidFill>
                <a:latin typeface="Meiryo" pitchFamily="34" charset="0"/>
                <a:ea typeface="Meiryo" pitchFamily="34" charset="-122"/>
                <a:cs typeface="Meiryo" pitchFamily="34" charset="-120"/>
              </a:rPr>
              <a:t>学習曲線の内訳</a:t>
            </a:r>
            <a:endParaRPr lang="en-US" sz="1200" dirty="0"/>
          </a:p>
        </p:txBody>
      </p:sp>
      <p:sp>
        <p:nvSpPr>
          <p:cNvPr id="3" name="Text 1"/>
          <p:cNvSpPr/>
          <p:nvPr/>
        </p:nvSpPr>
        <p:spPr>
          <a:xfrm>
            <a:off x="548640" y="621792"/>
            <a:ext cx="11064240" cy="64008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1つのラベルだけ、データを増やしても伸びない</a:t>
            </a:r>
            <a:endParaRPr lang="en-US" sz="3200" dirty="0"/>
          </a:p>
        </p:txBody>
      </p:sp>
      <p:pic>
        <p:nvPicPr>
          <p:cNvPr id="4" name="Image 0" descr="preencoded.png">    </p:cNvPr>
          <p:cNvPicPr>
            <a:picLocks noChangeAspect="1"/>
          </p:cNvPicPr>
          <p:nvPr/>
        </p:nvPicPr>
        <p:blipFill>
          <a:blip r:embed="rId1"/>
          <a:stretch>
            <a:fillRect/>
          </a:stretch>
        </p:blipFill>
        <p:spPr>
          <a:xfrm>
            <a:off x="457200" y="1371600"/>
            <a:ext cx="11247120" cy="4672584"/>
          </a:xfrm>
          <a:prstGeom prst="rect">
            <a:avLst/>
          </a:prstGeom>
        </p:spPr>
      </p:pic>
      <p:sp>
        <p:nvSpPr>
          <p:cNvPr id="5" name="Text 2"/>
          <p:cNvSpPr/>
          <p:nvPr/>
        </p:nvSpPr>
        <p:spPr>
          <a:xfrm>
            <a:off x="457200" y="6108192"/>
            <a:ext cx="11247120" cy="274320"/>
          </a:xfrm>
          <a:prstGeom prst="rect">
            <a:avLst/>
          </a:prstGeom>
          <a:noFill/>
          <a:ln/>
        </p:spPr>
        <p:txBody>
          <a:bodyPr wrap="square" lIns="0" tIns="0" rIns="0" bIns="0" rtlCol="0" anchor="ctr"/>
          <a:lstStyle/>
          <a:p>
            <a:pPr indent="0" marL="0">
              <a:buNone/>
            </a:pPr>
            <a:r>
              <a:rPr lang="en-US" sz="1200" b="1" dirty="0">
                <a:solidFill>
                  <a:srgbClr val="B3341F"/>
                </a:solidFill>
                <a:latin typeface="Meiryo" pitchFamily="34" charset="0"/>
                <a:ea typeface="Meiryo" pitchFamily="34" charset="-122"/>
                <a:cs typeface="Meiryo" pitchFamily="34" charset="-120"/>
              </a:rPr>
              <a:t>赤 ＝ オホーツク海高気圧。学習量を11倍にしても 0.14 → 0.12 で変化しない。</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74320"/>
          </a:xfrm>
          <a:prstGeom prst="rect">
            <a:avLst/>
          </a:prstGeom>
          <a:noFill/>
          <a:ln/>
        </p:spPr>
        <p:txBody>
          <a:bodyPr wrap="square" rtlCol="0" anchor="ctr"/>
          <a:lstStyle/>
          <a:p>
            <a:pPr indent="0" marL="0">
              <a:buNone/>
            </a:pPr>
            <a:r>
              <a:rPr lang="en-US" sz="1200" b="1" spc="100" kern="0" dirty="0">
                <a:solidFill>
                  <a:srgbClr val="1C7293"/>
                </a:solidFill>
                <a:latin typeface="Meiryo" pitchFamily="34" charset="0"/>
                <a:ea typeface="Meiryo" pitchFamily="34" charset="-122"/>
                <a:cs typeface="Meiryo" pitchFamily="34" charset="-120"/>
              </a:rPr>
              <a:t>原因の特定</a:t>
            </a:r>
            <a:endParaRPr lang="en-US" sz="1200" dirty="0"/>
          </a:p>
        </p:txBody>
      </p:sp>
      <p:sp>
        <p:nvSpPr>
          <p:cNvPr id="3" name="Text 1"/>
          <p:cNvSpPr/>
          <p:nvPr/>
        </p:nvSpPr>
        <p:spPr>
          <a:xfrm>
            <a:off x="548640" y="621792"/>
            <a:ext cx="11064240" cy="64008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オホーツク海高気圧が当たらない理由</a:t>
            </a:r>
            <a:endParaRPr lang="en-US" sz="3200" dirty="0"/>
          </a:p>
        </p:txBody>
      </p:sp>
      <p:sp>
        <p:nvSpPr>
          <p:cNvPr id="4" name="Text 2"/>
          <p:cNvSpPr/>
          <p:nvPr/>
        </p:nvSpPr>
        <p:spPr>
          <a:xfrm>
            <a:off x="548640" y="1463040"/>
            <a:ext cx="11064240" cy="320040"/>
          </a:xfrm>
          <a:prstGeom prst="rect">
            <a:avLst/>
          </a:prstGeom>
          <a:noFill/>
          <a:ln/>
        </p:spPr>
        <p:txBody>
          <a:bodyPr wrap="square" rtlCol="0" anchor="ctr"/>
          <a:lstStyle/>
          <a:p>
            <a:pPr indent="0" marL="0">
              <a:buNone/>
            </a:pPr>
            <a:r>
              <a:rPr lang="en-US" sz="1500" dirty="0">
                <a:solidFill>
                  <a:srgbClr val="1A1A1A"/>
                </a:solidFill>
                <a:latin typeface="Meiryo" pitchFamily="34" charset="0"/>
                <a:ea typeface="Meiryo" pitchFamily="34" charset="-122"/>
                <a:cs typeface="Meiryo" pitchFamily="34" charset="-120"/>
              </a:rPr>
              <a:t>3つの独立した分析が、同じ結論を指している。</a:t>
            </a:r>
            <a:endParaRPr lang="en-US" sz="1500" dirty="0"/>
          </a:p>
        </p:txBody>
      </p:sp>
      <p:sp>
        <p:nvSpPr>
          <p:cNvPr id="5" name="Shape 3"/>
          <p:cNvSpPr/>
          <p:nvPr/>
        </p:nvSpPr>
        <p:spPr>
          <a:xfrm>
            <a:off x="548640" y="1965960"/>
            <a:ext cx="3566160" cy="2377440"/>
          </a:xfrm>
          <a:prstGeom prst="roundRect">
            <a:avLst>
              <a:gd name="adj" fmla="val 3846"/>
            </a:avLst>
          </a:prstGeom>
          <a:solidFill>
            <a:srgbClr val="F4F7F9"/>
          </a:solidFill>
          <a:ln/>
        </p:spPr>
      </p:sp>
      <p:sp>
        <p:nvSpPr>
          <p:cNvPr id="6" name="Shape 4"/>
          <p:cNvSpPr/>
          <p:nvPr/>
        </p:nvSpPr>
        <p:spPr>
          <a:xfrm>
            <a:off x="777240" y="2176272"/>
            <a:ext cx="457200" cy="457200"/>
          </a:xfrm>
          <a:prstGeom prst="ellipse">
            <a:avLst/>
          </a:prstGeom>
          <a:solidFill>
            <a:srgbClr val="065A82"/>
          </a:solidFill>
          <a:ln/>
        </p:spPr>
      </p:sp>
      <p:sp>
        <p:nvSpPr>
          <p:cNvPr id="7" name="Text 5"/>
          <p:cNvSpPr/>
          <p:nvPr/>
        </p:nvSpPr>
        <p:spPr>
          <a:xfrm>
            <a:off x="777240" y="2231136"/>
            <a:ext cx="45720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371600" y="2231136"/>
            <a:ext cx="2606040" cy="365760"/>
          </a:xfrm>
          <a:prstGeom prst="rect">
            <a:avLst/>
          </a:prstGeom>
          <a:noFill/>
          <a:ln/>
        </p:spPr>
        <p:txBody>
          <a:bodyPr wrap="square" lIns="0" tIns="0" rIns="0" bIns="0" rtlCol="0" anchor="ctr"/>
          <a:lstStyle/>
          <a:p>
            <a:pPr indent="0" marL="0">
              <a:buNone/>
            </a:pPr>
            <a:r>
              <a:rPr lang="en-US" sz="1400" b="1" dirty="0">
                <a:solidFill>
                  <a:srgbClr val="065A82"/>
                </a:solidFill>
                <a:latin typeface="Meiryo" pitchFamily="34" charset="0"/>
                <a:ea typeface="Meiryo" pitchFamily="34" charset="-122"/>
                <a:cs typeface="Meiryo" pitchFamily="34" charset="-120"/>
              </a:rPr>
              <a:t>Grad-CAM</a:t>
            </a:r>
            <a:endParaRPr lang="en-US" sz="1400" dirty="0"/>
          </a:p>
        </p:txBody>
      </p:sp>
      <p:sp>
        <p:nvSpPr>
          <p:cNvPr id="9" name="Text 7"/>
          <p:cNvSpPr/>
          <p:nvPr/>
        </p:nvSpPr>
        <p:spPr>
          <a:xfrm>
            <a:off x="777240" y="2788920"/>
            <a:ext cx="3108960" cy="1463040"/>
          </a:xfrm>
          <a:prstGeom prst="rect">
            <a:avLst/>
          </a:prstGeom>
          <a:noFill/>
          <a:ln/>
        </p:spPr>
        <p:txBody>
          <a:bodyPr wrap="square" lIns="0" tIns="0" rIns="0" bIns="0" rtlCol="0" anchor="ctr"/>
          <a:lstStyle/>
          <a:p>
            <a:pPr indent="0" marL="0">
              <a:buNone/>
            </a:pPr>
            <a:r>
              <a:rPr lang="en-US" sz="1150" dirty="0">
                <a:solidFill>
                  <a:srgbClr val="1A1A1A"/>
                </a:solidFill>
                <a:latin typeface="Meiryo" pitchFamily="34" charset="0"/>
                <a:ea typeface="Meiryo" pitchFamily="34" charset="-122"/>
                <a:cs typeface="Meiryo" pitchFamily="34" charset="-120"/>
              </a:rPr>
              <a:t>正解している場合でも、モデルはオホーツク海の高気圧本体ではなく、日本海北部〜北海道の等圧線を見ていた。</a:t>
            </a:r>
            <a:endParaRPr lang="en-US" sz="1150" dirty="0"/>
          </a:p>
        </p:txBody>
      </p:sp>
      <p:sp>
        <p:nvSpPr>
          <p:cNvPr id="10" name="Shape 8"/>
          <p:cNvSpPr/>
          <p:nvPr/>
        </p:nvSpPr>
        <p:spPr>
          <a:xfrm>
            <a:off x="4297680" y="1965960"/>
            <a:ext cx="3566160" cy="2377440"/>
          </a:xfrm>
          <a:prstGeom prst="roundRect">
            <a:avLst>
              <a:gd name="adj" fmla="val 3846"/>
            </a:avLst>
          </a:prstGeom>
          <a:solidFill>
            <a:srgbClr val="F4F7F9"/>
          </a:solidFill>
          <a:ln/>
        </p:spPr>
      </p:sp>
      <p:sp>
        <p:nvSpPr>
          <p:cNvPr id="11" name="Shape 9"/>
          <p:cNvSpPr/>
          <p:nvPr/>
        </p:nvSpPr>
        <p:spPr>
          <a:xfrm>
            <a:off x="4526280" y="2176272"/>
            <a:ext cx="457200" cy="457200"/>
          </a:xfrm>
          <a:prstGeom prst="ellipse">
            <a:avLst/>
          </a:prstGeom>
          <a:solidFill>
            <a:srgbClr val="065A82"/>
          </a:solidFill>
          <a:ln/>
        </p:spPr>
      </p:sp>
      <p:sp>
        <p:nvSpPr>
          <p:cNvPr id="12" name="Text 10"/>
          <p:cNvSpPr/>
          <p:nvPr/>
        </p:nvSpPr>
        <p:spPr>
          <a:xfrm>
            <a:off x="4526280" y="2231136"/>
            <a:ext cx="45720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5120640" y="2231136"/>
            <a:ext cx="2606040" cy="365760"/>
          </a:xfrm>
          <a:prstGeom prst="rect">
            <a:avLst/>
          </a:prstGeom>
          <a:noFill/>
          <a:ln/>
        </p:spPr>
        <p:txBody>
          <a:bodyPr wrap="square" lIns="0" tIns="0" rIns="0" bIns="0" rtlCol="0" anchor="ctr"/>
          <a:lstStyle/>
          <a:p>
            <a:pPr indent="0" marL="0">
              <a:buNone/>
            </a:pPr>
            <a:r>
              <a:rPr lang="en-US" sz="1400" b="1" dirty="0">
                <a:solidFill>
                  <a:srgbClr val="065A82"/>
                </a:solidFill>
                <a:latin typeface="Meiryo" pitchFamily="34" charset="0"/>
                <a:ea typeface="Meiryo" pitchFamily="34" charset="-122"/>
                <a:cs typeface="Meiryo" pitchFamily="34" charset="-120"/>
              </a:rPr>
              <a:t>学習曲線</a:t>
            </a:r>
            <a:endParaRPr lang="en-US" sz="1400" dirty="0"/>
          </a:p>
        </p:txBody>
      </p:sp>
      <p:sp>
        <p:nvSpPr>
          <p:cNvPr id="14" name="Text 12"/>
          <p:cNvSpPr/>
          <p:nvPr/>
        </p:nvSpPr>
        <p:spPr>
          <a:xfrm>
            <a:off x="4526280" y="2788920"/>
            <a:ext cx="3108960" cy="1463040"/>
          </a:xfrm>
          <a:prstGeom prst="rect">
            <a:avLst/>
          </a:prstGeom>
          <a:noFill/>
          <a:ln/>
        </p:spPr>
        <p:txBody>
          <a:bodyPr wrap="square" lIns="0" tIns="0" rIns="0" bIns="0" rtlCol="0" anchor="ctr"/>
          <a:lstStyle/>
          <a:p>
            <a:pPr indent="0" marL="0">
              <a:buNone/>
            </a:pPr>
            <a:r>
              <a:rPr lang="en-US" sz="1150" dirty="0">
                <a:solidFill>
                  <a:srgbClr val="1A1A1A"/>
                </a:solidFill>
                <a:latin typeface="Meiryo" pitchFamily="34" charset="0"/>
                <a:ea typeface="Meiryo" pitchFamily="34" charset="-122"/>
                <a:cs typeface="Meiryo" pitchFamily="34" charset="-120"/>
              </a:rPr>
              <a:t>学習量を11倍にしてもF1は0.14→0.12で変化なし。データ不足では説明できない。</a:t>
            </a:r>
            <a:endParaRPr lang="en-US" sz="1150" dirty="0"/>
          </a:p>
        </p:txBody>
      </p:sp>
      <p:sp>
        <p:nvSpPr>
          <p:cNvPr id="15" name="Shape 13"/>
          <p:cNvSpPr/>
          <p:nvPr/>
        </p:nvSpPr>
        <p:spPr>
          <a:xfrm>
            <a:off x="8046720" y="1965960"/>
            <a:ext cx="3566160" cy="2377440"/>
          </a:xfrm>
          <a:prstGeom prst="roundRect">
            <a:avLst>
              <a:gd name="adj" fmla="val 3846"/>
            </a:avLst>
          </a:prstGeom>
          <a:solidFill>
            <a:srgbClr val="F4F7F9"/>
          </a:solidFill>
          <a:ln/>
        </p:spPr>
      </p:sp>
      <p:sp>
        <p:nvSpPr>
          <p:cNvPr id="16" name="Shape 14"/>
          <p:cNvSpPr/>
          <p:nvPr/>
        </p:nvSpPr>
        <p:spPr>
          <a:xfrm>
            <a:off x="8275320" y="2176272"/>
            <a:ext cx="457200" cy="457200"/>
          </a:xfrm>
          <a:prstGeom prst="ellipse">
            <a:avLst/>
          </a:prstGeom>
          <a:solidFill>
            <a:srgbClr val="065A82"/>
          </a:solidFill>
          <a:ln/>
        </p:spPr>
      </p:sp>
      <p:sp>
        <p:nvSpPr>
          <p:cNvPr id="17" name="Text 15"/>
          <p:cNvSpPr/>
          <p:nvPr/>
        </p:nvSpPr>
        <p:spPr>
          <a:xfrm>
            <a:off x="8275320" y="2231136"/>
            <a:ext cx="457200" cy="34747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8869680" y="2231136"/>
            <a:ext cx="2606040" cy="365760"/>
          </a:xfrm>
          <a:prstGeom prst="rect">
            <a:avLst/>
          </a:prstGeom>
          <a:noFill/>
          <a:ln/>
        </p:spPr>
        <p:txBody>
          <a:bodyPr wrap="square" lIns="0" tIns="0" rIns="0" bIns="0" rtlCol="0" anchor="ctr"/>
          <a:lstStyle/>
          <a:p>
            <a:pPr indent="0" marL="0">
              <a:buNone/>
            </a:pPr>
            <a:r>
              <a:rPr lang="en-US" sz="1400" b="1" dirty="0">
                <a:solidFill>
                  <a:srgbClr val="065A82"/>
                </a:solidFill>
                <a:latin typeface="Meiryo" pitchFamily="34" charset="0"/>
                <a:ea typeface="Meiryo" pitchFamily="34" charset="-122"/>
                <a:cs typeface="Meiryo" pitchFamily="34" charset="-120"/>
              </a:rPr>
              <a:t>ERA5による検証</a:t>
            </a:r>
            <a:endParaRPr lang="en-US" sz="1400" dirty="0"/>
          </a:p>
        </p:txBody>
      </p:sp>
      <p:sp>
        <p:nvSpPr>
          <p:cNvPr id="19" name="Text 17"/>
          <p:cNvSpPr/>
          <p:nvPr/>
        </p:nvSpPr>
        <p:spPr>
          <a:xfrm>
            <a:off x="8275320" y="2788920"/>
            <a:ext cx="3108960" cy="1463040"/>
          </a:xfrm>
          <a:prstGeom prst="rect">
            <a:avLst/>
          </a:prstGeom>
          <a:noFill/>
          <a:ln/>
        </p:spPr>
        <p:txBody>
          <a:bodyPr wrap="square" lIns="0" tIns="0" rIns="0" bIns="0" rtlCol="0" anchor="ctr"/>
          <a:lstStyle/>
          <a:p>
            <a:pPr indent="0" marL="0">
              <a:buNone/>
            </a:pPr>
            <a:r>
              <a:rPr lang="en-US" sz="1150" dirty="0">
                <a:solidFill>
                  <a:srgbClr val="1A1A1A"/>
                </a:solidFill>
                <a:latin typeface="Meiryo" pitchFamily="34" charset="0"/>
                <a:ea typeface="Meiryo" pitchFamily="34" charset="-122"/>
                <a:cs typeface="Meiryo" pitchFamily="34" charset="-120"/>
              </a:rPr>
              <a:t>格子データの領域平均気圧だけで AUC 0.879。判別に必要な情報自体は確かに存在する。</a:t>
            </a:r>
            <a:endParaRPr lang="en-US" sz="1150" dirty="0"/>
          </a:p>
        </p:txBody>
      </p:sp>
      <p:sp>
        <p:nvSpPr>
          <p:cNvPr id="20" name="Shape 18"/>
          <p:cNvSpPr/>
          <p:nvPr/>
        </p:nvSpPr>
        <p:spPr>
          <a:xfrm>
            <a:off x="548640" y="4572000"/>
            <a:ext cx="11064240" cy="1325880"/>
          </a:xfrm>
          <a:prstGeom prst="roundRect">
            <a:avLst>
              <a:gd name="adj" fmla="val 5517"/>
            </a:avLst>
          </a:prstGeom>
          <a:solidFill>
            <a:srgbClr val="21295C"/>
          </a:solidFill>
          <a:ln/>
        </p:spPr>
      </p:sp>
      <p:sp>
        <p:nvSpPr>
          <p:cNvPr id="21" name="Text 19"/>
          <p:cNvSpPr/>
          <p:nvPr/>
        </p:nvSpPr>
        <p:spPr>
          <a:xfrm>
            <a:off x="868680" y="4736592"/>
            <a:ext cx="10424160" cy="1005840"/>
          </a:xfrm>
          <a:prstGeom prst="rect">
            <a:avLst/>
          </a:prstGeom>
          <a:noFill/>
          <a:ln/>
        </p:spPr>
        <p:txBody>
          <a:bodyPr wrap="square" lIns="0" tIns="0" rIns="0" bIns="0" rtlCol="0" anchor="ctr"/>
          <a:lstStyle/>
          <a:p>
            <a:pPr indent="0" marL="0">
              <a:buNone/>
            </a:pPr>
            <a:r>
              <a:rPr lang="en-US" sz="1600" b="1" dirty="0">
                <a:solidFill>
                  <a:srgbClr val="FFFFFF"/>
                </a:solidFill>
                <a:latin typeface="Meiryo" pitchFamily="34" charset="0"/>
                <a:ea typeface="Meiryo" pitchFamily="34" charset="-122"/>
                <a:cs typeface="Meiryo" pitchFamily="34" charset="-120"/>
              </a:rPr>
              <a:t>結論：データ量の問題でも、情報の不在でもない。
</a:t>
            </a:r>
            <a:endParaRPr lang="en-US" sz="1600" dirty="0"/>
          </a:p>
          <a:p>
            <a:pPr indent="0" marL="0">
              <a:buNone/>
            </a:pPr>
            <a:r>
              <a:rPr lang="en-US" sz="1300" dirty="0">
                <a:solidFill>
                  <a:srgbClr val="CADCFC"/>
                </a:solidFill>
                <a:latin typeface="Meiryo" pitchFamily="34" charset="0"/>
                <a:ea typeface="Meiryo" pitchFamily="34" charset="-122"/>
                <a:cs typeface="Meiryo" pitchFamily="34" charset="-120"/>
              </a:rPr>
              <a:t>単一時刻の天気図画像という入力形式から、位置情報を抽出できていないことが原因。したがって対策はデータ追加ではなく、入力の変更にある。</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74320"/>
          </a:xfrm>
          <a:prstGeom prst="rect">
            <a:avLst/>
          </a:prstGeom>
          <a:noFill/>
          <a:ln/>
        </p:spPr>
        <p:txBody>
          <a:bodyPr wrap="square" rtlCol="0" anchor="ctr"/>
          <a:lstStyle/>
          <a:p>
            <a:pPr indent="0" marL="0">
              <a:buNone/>
            </a:pPr>
            <a:r>
              <a:rPr lang="en-US" sz="1200" b="1" spc="100" kern="0" dirty="0">
                <a:solidFill>
                  <a:srgbClr val="1C7293"/>
                </a:solidFill>
                <a:latin typeface="Meiryo" pitchFamily="34" charset="0"/>
                <a:ea typeface="Meiryo" pitchFamily="34" charset="-122"/>
                <a:cs typeface="Meiryo" pitchFamily="34" charset="-120"/>
              </a:rPr>
              <a:t>改善の試み</a:t>
            </a:r>
            <a:endParaRPr lang="en-US" sz="1200" dirty="0"/>
          </a:p>
        </p:txBody>
      </p:sp>
      <p:sp>
        <p:nvSpPr>
          <p:cNvPr id="3" name="Text 1"/>
          <p:cNvSpPr/>
          <p:nvPr/>
        </p:nvSpPr>
        <p:spPr>
          <a:xfrm>
            <a:off x="548640" y="621792"/>
            <a:ext cx="11064240" cy="64008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ERA5再解析データの併用</a:t>
            </a:r>
            <a:endParaRPr lang="en-US" sz="3200" dirty="0"/>
          </a:p>
        </p:txBody>
      </p:sp>
      <p:sp>
        <p:nvSpPr>
          <p:cNvPr id="4" name="Text 2"/>
          <p:cNvSpPr/>
          <p:nvPr/>
        </p:nvSpPr>
        <p:spPr>
          <a:xfrm>
            <a:off x="548640" y="1463040"/>
            <a:ext cx="11064240" cy="320040"/>
          </a:xfrm>
          <a:prstGeom prst="rect">
            <a:avLst/>
          </a:prstGeom>
          <a:noFill/>
          <a:ln/>
        </p:spPr>
        <p:txBody>
          <a:bodyPr wrap="square" rtlCol="0" anchor="ctr"/>
          <a:lstStyle/>
          <a:p>
            <a:pPr indent="0" marL="0">
              <a:buNone/>
            </a:pPr>
            <a:r>
              <a:rPr lang="en-US" sz="1450" dirty="0">
                <a:solidFill>
                  <a:srgbClr val="1A1A1A"/>
                </a:solidFill>
                <a:latin typeface="Meiryo" pitchFamily="34" charset="0"/>
                <a:ea typeface="Meiryo" pitchFamily="34" charset="-122"/>
                <a:cs typeface="Meiryo" pitchFamily="34" charset="-120"/>
              </a:rPr>
              <a:t>気象庁の天気図画像に加え、ERA5の格子データから領域ごとの気圧・気温を数値として与える。</a:t>
            </a:r>
            <a:endParaRPr lang="en-US" sz="1450" dirty="0"/>
          </a:p>
        </p:txBody>
      </p:sp>
      <p:sp>
        <p:nvSpPr>
          <p:cNvPr id="5" name="Shape 3"/>
          <p:cNvSpPr/>
          <p:nvPr/>
        </p:nvSpPr>
        <p:spPr>
          <a:xfrm>
            <a:off x="548640" y="1965960"/>
            <a:ext cx="3566160" cy="2514600"/>
          </a:xfrm>
          <a:prstGeom prst="roundRect">
            <a:avLst>
              <a:gd name="adj" fmla="val 3636"/>
            </a:avLst>
          </a:prstGeom>
          <a:solidFill>
            <a:srgbClr val="FDF1EE"/>
          </a:solidFill>
          <a:ln/>
        </p:spPr>
      </p:sp>
      <p:sp>
        <p:nvSpPr>
          <p:cNvPr id="6" name="Shape 4"/>
          <p:cNvSpPr/>
          <p:nvPr/>
        </p:nvSpPr>
        <p:spPr>
          <a:xfrm>
            <a:off x="777240" y="2176272"/>
            <a:ext cx="420624" cy="420624"/>
          </a:xfrm>
          <a:prstGeom prst="ellipse">
            <a:avLst/>
          </a:prstGeom>
          <a:solidFill>
            <a:srgbClr val="B3341F"/>
          </a:solidFill>
          <a:ln/>
        </p:spPr>
      </p:sp>
      <p:sp>
        <p:nvSpPr>
          <p:cNvPr id="7" name="Text 5"/>
          <p:cNvSpPr/>
          <p:nvPr/>
        </p:nvSpPr>
        <p:spPr>
          <a:xfrm>
            <a:off x="777240" y="2240280"/>
            <a:ext cx="420624"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1325880" y="2231136"/>
            <a:ext cx="2651760" cy="365760"/>
          </a:xfrm>
          <a:prstGeom prst="rect">
            <a:avLst/>
          </a:prstGeom>
          <a:noFill/>
          <a:ln/>
        </p:spPr>
        <p:txBody>
          <a:bodyPr wrap="square" lIns="0" tIns="0" rIns="0" bIns="0" rtlCol="0" anchor="ctr"/>
          <a:lstStyle/>
          <a:p>
            <a:pPr indent="0" marL="0">
              <a:buNone/>
            </a:pPr>
            <a:r>
              <a:rPr lang="en-US" sz="1400" b="1" dirty="0">
                <a:solidFill>
                  <a:srgbClr val="B3341F"/>
                </a:solidFill>
                <a:latin typeface="Meiryo" pitchFamily="34" charset="0"/>
                <a:ea typeface="Meiryo" pitchFamily="34" charset="-122"/>
                <a:cs typeface="Meiryo" pitchFamily="34" charset="-120"/>
              </a:rPr>
              <a:t>特徴量に連結</a:t>
            </a:r>
            <a:endParaRPr lang="en-US" sz="1400" dirty="0"/>
          </a:p>
        </p:txBody>
      </p:sp>
      <p:sp>
        <p:nvSpPr>
          <p:cNvPr id="9" name="Text 7"/>
          <p:cNvSpPr/>
          <p:nvPr/>
        </p:nvSpPr>
        <p:spPr>
          <a:xfrm>
            <a:off x="777240" y="2743200"/>
            <a:ext cx="3108960" cy="566928"/>
          </a:xfrm>
          <a:prstGeom prst="rect">
            <a:avLst/>
          </a:prstGeom>
          <a:noFill/>
          <a:ln/>
        </p:spPr>
        <p:txBody>
          <a:bodyPr wrap="square" lIns="0" tIns="0" rIns="0" bIns="0" rtlCol="0" anchor="ctr"/>
          <a:lstStyle/>
          <a:p>
            <a:pPr indent="0" marL="0">
              <a:buNone/>
            </a:pPr>
            <a:r>
              <a:rPr lang="en-US" sz="3000" b="1" dirty="0">
                <a:solidFill>
                  <a:srgbClr val="B3341F"/>
                </a:solidFill>
                <a:latin typeface="Cambria" pitchFamily="34" charset="0"/>
                <a:ea typeface="Cambria" pitchFamily="34" charset="-122"/>
                <a:cs typeface="Cambria" pitchFamily="34" charset="-120"/>
              </a:rPr>
              <a:t>0.619</a:t>
            </a:r>
            <a:endParaRPr lang="en-US" sz="3000" dirty="0"/>
          </a:p>
        </p:txBody>
      </p:sp>
      <p:sp>
        <p:nvSpPr>
          <p:cNvPr id="10" name="Text 8"/>
          <p:cNvSpPr/>
          <p:nvPr/>
        </p:nvSpPr>
        <p:spPr>
          <a:xfrm>
            <a:off x="777240" y="3364992"/>
            <a:ext cx="3108960" cy="1005840"/>
          </a:xfrm>
          <a:prstGeom prst="rect">
            <a:avLst/>
          </a:prstGeom>
          <a:noFill/>
          <a:ln/>
        </p:spPr>
        <p:txBody>
          <a:bodyPr wrap="square" lIns="0" tIns="0" rIns="0" bIns="0" rtlCol="0" anchor="ctr"/>
          <a:lstStyle/>
          <a:p>
            <a:pPr indent="0" marL="0">
              <a:buNone/>
            </a:pPr>
            <a:r>
              <a:rPr lang="en-US" sz="1150" dirty="0">
                <a:solidFill>
                  <a:srgbClr val="1A1A1A"/>
                </a:solidFill>
                <a:latin typeface="Meiryo" pitchFamily="34" charset="0"/>
                <a:ea typeface="Meiryo" pitchFamily="34" charset="-122"/>
                <a:cs typeface="Meiryo" pitchFamily="34" charset="-120"/>
              </a:rPr>
              <a:t>画像側1280次元にERA5の17次元を連結。次元比が大きく、数値の信号が埋もれた。改善せず。</a:t>
            </a:r>
            <a:endParaRPr lang="en-US" sz="1150" dirty="0"/>
          </a:p>
        </p:txBody>
      </p:sp>
      <p:sp>
        <p:nvSpPr>
          <p:cNvPr id="11" name="Shape 9"/>
          <p:cNvSpPr/>
          <p:nvPr/>
        </p:nvSpPr>
        <p:spPr>
          <a:xfrm>
            <a:off x="4297680" y="1965960"/>
            <a:ext cx="3566160" cy="2514600"/>
          </a:xfrm>
          <a:prstGeom prst="roundRect">
            <a:avLst>
              <a:gd name="adj" fmla="val 3636"/>
            </a:avLst>
          </a:prstGeom>
          <a:solidFill>
            <a:srgbClr val="F4F7F9"/>
          </a:solidFill>
          <a:ln/>
        </p:spPr>
      </p:sp>
      <p:sp>
        <p:nvSpPr>
          <p:cNvPr id="12" name="Shape 10"/>
          <p:cNvSpPr/>
          <p:nvPr/>
        </p:nvSpPr>
        <p:spPr>
          <a:xfrm>
            <a:off x="4526280" y="2176272"/>
            <a:ext cx="420624" cy="420624"/>
          </a:xfrm>
          <a:prstGeom prst="ellipse">
            <a:avLst/>
          </a:prstGeom>
          <a:solidFill>
            <a:srgbClr val="1C7293"/>
          </a:solidFill>
          <a:ln/>
        </p:spPr>
      </p:sp>
      <p:sp>
        <p:nvSpPr>
          <p:cNvPr id="13" name="Text 11"/>
          <p:cNvSpPr/>
          <p:nvPr/>
        </p:nvSpPr>
        <p:spPr>
          <a:xfrm>
            <a:off x="4526280" y="2240280"/>
            <a:ext cx="420624"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4" name="Text 12"/>
          <p:cNvSpPr/>
          <p:nvPr/>
        </p:nvSpPr>
        <p:spPr>
          <a:xfrm>
            <a:off x="5074920" y="2231136"/>
            <a:ext cx="2651760" cy="365760"/>
          </a:xfrm>
          <a:prstGeom prst="rect">
            <a:avLst/>
          </a:prstGeom>
          <a:noFill/>
          <a:ln/>
        </p:spPr>
        <p:txBody>
          <a:bodyPr wrap="square" lIns="0" tIns="0" rIns="0" bIns="0" rtlCol="0" anchor="ctr"/>
          <a:lstStyle/>
          <a:p>
            <a:pPr indent="0" marL="0">
              <a:buNone/>
            </a:pPr>
            <a:r>
              <a:rPr lang="en-US" sz="1400" b="1" dirty="0">
                <a:solidFill>
                  <a:srgbClr val="1C7293"/>
                </a:solidFill>
                <a:latin typeface="Meiryo" pitchFamily="34" charset="0"/>
                <a:ea typeface="Meiryo" pitchFamily="34" charset="-122"/>
                <a:cs typeface="Meiryo" pitchFamily="34" charset="-120"/>
              </a:rPr>
              <a:t>特徴量の再設計</a:t>
            </a:r>
            <a:endParaRPr lang="en-US" sz="1400" dirty="0"/>
          </a:p>
        </p:txBody>
      </p:sp>
      <p:sp>
        <p:nvSpPr>
          <p:cNvPr id="15" name="Text 13"/>
          <p:cNvSpPr/>
          <p:nvPr/>
        </p:nvSpPr>
        <p:spPr>
          <a:xfrm>
            <a:off x="4526280" y="2743200"/>
            <a:ext cx="3108960" cy="566928"/>
          </a:xfrm>
          <a:prstGeom prst="rect">
            <a:avLst/>
          </a:prstGeom>
          <a:noFill/>
          <a:ln/>
        </p:spPr>
        <p:txBody>
          <a:bodyPr wrap="square" lIns="0" tIns="0" rIns="0" bIns="0" rtlCol="0" anchor="ctr"/>
          <a:lstStyle/>
          <a:p>
            <a:pPr indent="0" marL="0">
              <a:buNone/>
            </a:pPr>
            <a:r>
              <a:rPr lang="en-US" sz="3000" b="1" dirty="0">
                <a:solidFill>
                  <a:srgbClr val="1C7293"/>
                </a:solidFill>
                <a:latin typeface="Cambria" pitchFamily="34" charset="0"/>
                <a:ea typeface="Cambria" pitchFamily="34" charset="-122"/>
                <a:cs typeface="Cambria" pitchFamily="34" charset="-120"/>
              </a:rPr>
              <a:t>0.920</a:t>
            </a:r>
            <a:endParaRPr lang="en-US" sz="3000" dirty="0"/>
          </a:p>
        </p:txBody>
      </p:sp>
      <p:sp>
        <p:nvSpPr>
          <p:cNvPr id="16" name="Text 14"/>
          <p:cNvSpPr/>
          <p:nvPr/>
        </p:nvSpPr>
        <p:spPr>
          <a:xfrm>
            <a:off x="4526280" y="3364992"/>
            <a:ext cx="3108960" cy="1005840"/>
          </a:xfrm>
          <a:prstGeom prst="rect">
            <a:avLst/>
          </a:prstGeom>
          <a:noFill/>
          <a:ln/>
        </p:spPr>
        <p:txBody>
          <a:bodyPr wrap="square" lIns="0" tIns="0" rIns="0" bIns="0" rtlCol="0" anchor="ctr"/>
          <a:lstStyle/>
          <a:p>
            <a:pPr indent="0" marL="0">
              <a:buNone/>
            </a:pPr>
            <a:r>
              <a:rPr lang="en-US" sz="1150" dirty="0">
                <a:solidFill>
                  <a:srgbClr val="1A1A1A"/>
                </a:solidFill>
                <a:latin typeface="Meiryo" pitchFamily="34" charset="0"/>
                <a:ea typeface="Meiryo" pitchFamily="34" charset="-122"/>
                <a:cs typeface="Meiryo" pitchFamily="34" charset="-120"/>
              </a:rPr>
              <a:t>オホーツク海を南北に分割し、地上気圧から北日本の風を計算。ERA5単独のAUCが0.879→0.920に。</a:t>
            </a:r>
            <a:endParaRPr lang="en-US" sz="1150" dirty="0"/>
          </a:p>
        </p:txBody>
      </p:sp>
      <p:sp>
        <p:nvSpPr>
          <p:cNvPr id="17" name="Shape 15"/>
          <p:cNvSpPr/>
          <p:nvPr/>
        </p:nvSpPr>
        <p:spPr>
          <a:xfrm>
            <a:off x="8046720" y="1965960"/>
            <a:ext cx="3566160" cy="2514600"/>
          </a:xfrm>
          <a:prstGeom prst="roundRect">
            <a:avLst>
              <a:gd name="adj" fmla="val 3636"/>
            </a:avLst>
          </a:prstGeom>
          <a:solidFill>
            <a:srgbClr val="F4F7F9"/>
          </a:solidFill>
          <a:ln/>
        </p:spPr>
      </p:sp>
      <p:sp>
        <p:nvSpPr>
          <p:cNvPr id="18" name="Shape 16"/>
          <p:cNvSpPr/>
          <p:nvPr/>
        </p:nvSpPr>
        <p:spPr>
          <a:xfrm>
            <a:off x="8275320" y="2176272"/>
            <a:ext cx="420624" cy="420624"/>
          </a:xfrm>
          <a:prstGeom prst="ellipse">
            <a:avLst/>
          </a:prstGeom>
          <a:solidFill>
            <a:srgbClr val="065A82"/>
          </a:solidFill>
          <a:ln/>
        </p:spPr>
      </p:sp>
      <p:sp>
        <p:nvSpPr>
          <p:cNvPr id="19" name="Text 17"/>
          <p:cNvSpPr/>
          <p:nvPr/>
        </p:nvSpPr>
        <p:spPr>
          <a:xfrm>
            <a:off x="8275320" y="2240280"/>
            <a:ext cx="420624"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0" name="Text 18"/>
          <p:cNvSpPr/>
          <p:nvPr/>
        </p:nvSpPr>
        <p:spPr>
          <a:xfrm>
            <a:off x="8823960" y="2231136"/>
            <a:ext cx="2651760" cy="365760"/>
          </a:xfrm>
          <a:prstGeom prst="rect">
            <a:avLst/>
          </a:prstGeom>
          <a:noFill/>
          <a:ln/>
        </p:spPr>
        <p:txBody>
          <a:bodyPr wrap="square" lIns="0" tIns="0" rIns="0" bIns="0" rtlCol="0" anchor="ctr"/>
          <a:lstStyle/>
          <a:p>
            <a:pPr indent="0" marL="0">
              <a:buNone/>
            </a:pPr>
            <a:r>
              <a:rPr lang="en-US" sz="1400" b="1" dirty="0">
                <a:solidFill>
                  <a:srgbClr val="065A82"/>
                </a:solidFill>
                <a:latin typeface="Meiryo" pitchFamily="34" charset="0"/>
                <a:ea typeface="Meiryo" pitchFamily="34" charset="-122"/>
                <a:cs typeface="Meiryo" pitchFamily="34" charset="-120"/>
              </a:rPr>
              <a:t>確率の平均</a:t>
            </a:r>
            <a:endParaRPr lang="en-US" sz="1400" dirty="0"/>
          </a:p>
        </p:txBody>
      </p:sp>
      <p:sp>
        <p:nvSpPr>
          <p:cNvPr id="21" name="Text 19"/>
          <p:cNvSpPr/>
          <p:nvPr/>
        </p:nvSpPr>
        <p:spPr>
          <a:xfrm>
            <a:off x="8275320" y="2743200"/>
            <a:ext cx="3108960" cy="566928"/>
          </a:xfrm>
          <a:prstGeom prst="rect">
            <a:avLst/>
          </a:prstGeom>
          <a:noFill/>
          <a:ln/>
        </p:spPr>
        <p:txBody>
          <a:bodyPr wrap="square" lIns="0" tIns="0" rIns="0" bIns="0" rtlCol="0" anchor="ctr"/>
          <a:lstStyle/>
          <a:p>
            <a:pPr indent="0" marL="0">
              <a:buNone/>
            </a:pPr>
            <a:r>
              <a:rPr lang="en-US" sz="3000" b="1" dirty="0">
                <a:solidFill>
                  <a:srgbClr val="065A82"/>
                </a:solidFill>
                <a:latin typeface="Cambria" pitchFamily="34" charset="0"/>
                <a:ea typeface="Cambria" pitchFamily="34" charset="-122"/>
                <a:cs typeface="Cambria" pitchFamily="34" charset="-120"/>
              </a:rPr>
              <a:t>0.648</a:t>
            </a:r>
            <a:endParaRPr lang="en-US" sz="3000" dirty="0"/>
          </a:p>
        </p:txBody>
      </p:sp>
      <p:sp>
        <p:nvSpPr>
          <p:cNvPr id="22" name="Text 20"/>
          <p:cNvSpPr/>
          <p:nvPr/>
        </p:nvSpPr>
        <p:spPr>
          <a:xfrm>
            <a:off x="8275320" y="3364992"/>
            <a:ext cx="3108960" cy="1005840"/>
          </a:xfrm>
          <a:prstGeom prst="rect">
            <a:avLst/>
          </a:prstGeom>
          <a:noFill/>
          <a:ln/>
        </p:spPr>
        <p:txBody>
          <a:bodyPr wrap="square" lIns="0" tIns="0" rIns="0" bIns="0" rtlCol="0" anchor="ctr"/>
          <a:lstStyle/>
          <a:p>
            <a:pPr indent="0" marL="0">
              <a:buNone/>
            </a:pPr>
            <a:r>
              <a:rPr lang="en-US" sz="1150" dirty="0">
                <a:solidFill>
                  <a:srgbClr val="1A1A1A"/>
                </a:solidFill>
                <a:latin typeface="Meiryo" pitchFamily="34" charset="0"/>
                <a:ea typeface="Meiryo" pitchFamily="34" charset="-122"/>
                <a:cs typeface="Meiryo" pitchFamily="34" charset="-120"/>
              </a:rPr>
              <a:t>CNNとERA5を別々に動かし出力確率を混合。3foldすべてで改善（+0.043/+0.005/+0.005）。</a:t>
            </a:r>
            <a:endParaRPr lang="en-US" sz="1150" dirty="0"/>
          </a:p>
        </p:txBody>
      </p:sp>
      <p:sp>
        <p:nvSpPr>
          <p:cNvPr id="23" name="Shape 21"/>
          <p:cNvSpPr/>
          <p:nvPr/>
        </p:nvSpPr>
        <p:spPr>
          <a:xfrm>
            <a:off x="548640" y="4709160"/>
            <a:ext cx="11064240" cy="1234440"/>
          </a:xfrm>
          <a:prstGeom prst="roundRect">
            <a:avLst>
              <a:gd name="adj" fmla="val 5926"/>
            </a:avLst>
          </a:prstGeom>
          <a:solidFill>
            <a:srgbClr val="21295C"/>
          </a:solidFill>
          <a:ln/>
        </p:spPr>
      </p:sp>
      <p:sp>
        <p:nvSpPr>
          <p:cNvPr id="24" name="Text 22"/>
          <p:cNvSpPr/>
          <p:nvPr/>
        </p:nvSpPr>
        <p:spPr>
          <a:xfrm>
            <a:off x="868680" y="4873752"/>
            <a:ext cx="10424160" cy="914400"/>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到達点：macro F1  0.613（基本）→ 0.630（座標情報）→ 0.648（ERA5併用）
</a:t>
            </a:r>
            <a:endParaRPr lang="en-US" sz="1500" dirty="0"/>
          </a:p>
          <a:p>
            <a:pPr indent="0" marL="0">
              <a:buNone/>
            </a:pPr>
            <a:r>
              <a:rPr lang="en-US" sz="1250" dirty="0">
                <a:solidFill>
                  <a:srgbClr val="CADCFC"/>
                </a:solidFill>
                <a:latin typeface="Meiryo" pitchFamily="34" charset="0"/>
                <a:ea typeface="Meiryo" pitchFamily="34" charset="-122"/>
                <a:cs typeface="Meiryo" pitchFamily="34" charset="-120"/>
              </a:rPr>
              <a:t>オホーツク海高気圧は 0.155 → 0.240 → 0.297。統合方法の選択が結果を左右した。</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74320"/>
          </a:xfrm>
          <a:prstGeom prst="rect">
            <a:avLst/>
          </a:prstGeom>
          <a:noFill/>
          <a:ln/>
        </p:spPr>
        <p:txBody>
          <a:bodyPr wrap="square" rtlCol="0" anchor="ctr"/>
          <a:lstStyle/>
          <a:p>
            <a:pPr indent="0" marL="0">
              <a:buNone/>
            </a:pPr>
            <a:r>
              <a:rPr lang="en-US" sz="1200" b="1" spc="100" kern="0" dirty="0">
                <a:solidFill>
                  <a:srgbClr val="1C7293"/>
                </a:solidFill>
                <a:latin typeface="Meiryo" pitchFamily="34" charset="0"/>
                <a:ea typeface="Meiryo" pitchFamily="34" charset="-122"/>
                <a:cs typeface="Meiryo" pitchFamily="34" charset="-120"/>
              </a:rPr>
              <a:t>改善の中身</a:t>
            </a:r>
            <a:endParaRPr lang="en-US" sz="1200" dirty="0"/>
          </a:p>
        </p:txBody>
      </p:sp>
      <p:sp>
        <p:nvSpPr>
          <p:cNvPr id="3" name="Text 1"/>
          <p:cNvSpPr/>
          <p:nvPr/>
        </p:nvSpPr>
        <p:spPr>
          <a:xfrm>
            <a:off x="548640" y="621792"/>
            <a:ext cx="11064240" cy="64008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予報官の判断基準を特徴量にした</a:t>
            </a:r>
            <a:endParaRPr lang="en-US" sz="3200" dirty="0"/>
          </a:p>
        </p:txBody>
      </p:sp>
      <p:sp>
        <p:nvSpPr>
          <p:cNvPr id="4" name="Shape 2"/>
          <p:cNvSpPr/>
          <p:nvPr/>
        </p:nvSpPr>
        <p:spPr>
          <a:xfrm>
            <a:off x="548640" y="1463040"/>
            <a:ext cx="11064240" cy="868680"/>
          </a:xfrm>
          <a:prstGeom prst="roundRect">
            <a:avLst>
              <a:gd name="adj" fmla="val 8421"/>
            </a:avLst>
          </a:prstGeom>
          <a:solidFill>
            <a:srgbClr val="F4F7F9"/>
          </a:solidFill>
          <a:ln/>
        </p:spPr>
      </p:sp>
      <p:sp>
        <p:nvSpPr>
          <p:cNvPr id="5" name="Text 3"/>
          <p:cNvSpPr/>
          <p:nvPr/>
        </p:nvSpPr>
        <p:spPr>
          <a:xfrm>
            <a:off x="822960" y="1664208"/>
            <a:ext cx="10515600" cy="548640"/>
          </a:xfrm>
          <a:prstGeom prst="rect">
            <a:avLst/>
          </a:prstGeom>
          <a:noFill/>
          <a:ln/>
        </p:spPr>
        <p:txBody>
          <a:bodyPr wrap="square" lIns="0" tIns="0" rIns="0" bIns="0" rtlCol="0" anchor="ctr"/>
          <a:lstStyle/>
          <a:p>
            <a:pPr indent="0" marL="0">
              <a:buNone/>
            </a:pPr>
            <a:r>
              <a:rPr lang="en-US" sz="1400" b="1" dirty="0">
                <a:solidFill>
                  <a:srgbClr val="065A82"/>
                </a:solidFill>
                <a:latin typeface="Meiryo" pitchFamily="34" charset="0"/>
                <a:ea typeface="Meiryo" pitchFamily="34" charset="-122"/>
                <a:cs typeface="Meiryo" pitchFamily="34" charset="-120"/>
              </a:rPr>
              <a:t>ラベルの定義：</a:t>
            </a:r>
            <a:pPr indent="0" marL="0">
              <a:buNone/>
            </a:pPr>
            <a:r>
              <a:rPr lang="en-US" sz="1350" dirty="0">
                <a:solidFill>
                  <a:srgbClr val="1A1A1A"/>
                </a:solidFill>
                <a:latin typeface="Meiryo" pitchFamily="34" charset="0"/>
                <a:ea typeface="Meiryo" pitchFamily="34" charset="-122"/>
                <a:cs typeface="Meiryo" pitchFamily="34" charset="-120"/>
              </a:rPr>
              <a:t>「オホーツク海に高気圧があり、北東気流が北日本に入りそうな場合」——高気圧が海の南部にあれば北東気流が入りやすく、北部にあれば入りにくい。</a:t>
            </a:r>
            <a:endParaRPr lang="en-US" sz="1400" dirty="0"/>
          </a:p>
        </p:txBody>
      </p:sp>
      <p:sp>
        <p:nvSpPr>
          <p:cNvPr id="6" name="Text 4"/>
          <p:cNvSpPr/>
          <p:nvPr/>
        </p:nvSpPr>
        <p:spPr>
          <a:xfrm>
            <a:off x="548640" y="2487168"/>
            <a:ext cx="11064240" cy="320040"/>
          </a:xfrm>
          <a:prstGeom prst="rect">
            <a:avLst/>
          </a:prstGeom>
          <a:noFill/>
          <a:ln/>
        </p:spPr>
        <p:txBody>
          <a:bodyPr wrap="square" rtlCol="0" anchor="ctr"/>
          <a:lstStyle/>
          <a:p>
            <a:pPr indent="0" marL="0">
              <a:buNone/>
            </a:pPr>
            <a:r>
              <a:rPr lang="en-US" sz="1300" dirty="0">
                <a:solidFill>
                  <a:srgbClr val="5A6472"/>
                </a:solidFill>
                <a:latin typeface="Meiryo" pitchFamily="34" charset="0"/>
                <a:ea typeface="Meiryo" pitchFamily="34" charset="-122"/>
                <a:cs typeface="Meiryo" pitchFamily="34" charset="-120"/>
              </a:rPr>
              <a:t>当初は北緯45〜60度をひとまとめに平均しており、この区別が消えていた。領域を南北に分け、地上気圧から地衡風を計算して加えた。</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926080"/>
          <a:ext cx="11064240" cy="914400"/>
        </p:xfrm>
        <a:graphic>
          <a:graphicData uri="http://schemas.openxmlformats.org/drawingml/2006/table">
            <a:tbl>
              <a:tblPr/>
              <a:tblGrid>
                <a:gridCol w="3200400"/>
                <a:gridCol w="1371600"/>
                <a:gridCol w="1188720"/>
                <a:gridCol w="5303520"/>
              </a:tblGrid>
              <a:tr h="384048">
                <a:tc>
                  <a:txBody>
                    <a:bodyPr/>
                    <a:lstStyle/>
                    <a:p>
                      <a:pPr indent="0" marL="0">
                        <a:buNone/>
                      </a:pPr>
                      <a:r>
                        <a:rPr lang="en-US" sz="1250" b="1" dirty="0">
                          <a:solidFill>
                            <a:srgbClr val="1A1A1A"/>
                          </a:solidFill>
                          <a:latin typeface="Meiryo" pitchFamily="34" charset="0"/>
                          <a:ea typeface="Meiryo" pitchFamily="34" charset="-122"/>
                          <a:cs typeface="Meiryo" pitchFamily="34" charset="-120"/>
                        </a:rPr>
                        <a:t>特徴量</a:t>
                      </a:r>
                      <a:endParaRPr lang="en-US" sz="125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algn="r" indent="0" marL="0">
                        <a:buNone/>
                      </a:pPr>
                      <a:r>
                        <a:rPr lang="en-US" sz="1250" b="1" dirty="0">
                          <a:solidFill>
                            <a:srgbClr val="1A1A1A"/>
                          </a:solidFill>
                          <a:latin typeface="Meiryo" pitchFamily="34" charset="0"/>
                          <a:ea typeface="Meiryo" pitchFamily="34" charset="-122"/>
                          <a:cs typeface="Meiryo" pitchFamily="34" charset="-120"/>
                        </a:rPr>
                        <a:t>単独AUC</a:t>
                      </a:r>
                      <a:endParaRPr lang="en-US" sz="125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algn="r" indent="0" marL="0">
                        <a:buNone/>
                      </a:pPr>
                      <a:r>
                        <a:rPr lang="en-US" sz="1250" b="1" dirty="0">
                          <a:solidFill>
                            <a:srgbClr val="1A1A1A"/>
                          </a:solidFill>
                          <a:latin typeface="Meiryo" pitchFamily="34" charset="0"/>
                          <a:ea typeface="Meiryo" pitchFamily="34" charset="-122"/>
                          <a:cs typeface="Meiryo" pitchFamily="34" charset="-120"/>
                        </a:rPr>
                        <a:t>係数</a:t>
                      </a:r>
                      <a:endParaRPr lang="en-US" sz="125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indent="0" marL="0">
                        <a:buNone/>
                      </a:pPr>
                      <a:r>
                        <a:rPr lang="en-US" sz="1250" b="1" dirty="0">
                          <a:solidFill>
                            <a:srgbClr val="1A1A1A"/>
                          </a:solidFill>
                          <a:latin typeface="Meiryo" pitchFamily="34" charset="0"/>
                          <a:ea typeface="Meiryo" pitchFamily="34" charset="-122"/>
                          <a:cs typeface="Meiryo" pitchFamily="34" charset="-120"/>
                        </a:rPr>
                        <a:t>読み方</a:t>
                      </a:r>
                      <a:endParaRPr lang="en-US" sz="125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r>
              <a:tr h="384048">
                <a:tc>
                  <a:txBody>
                    <a:bodyPr/>
                    <a:lstStyle/>
                    <a:p>
                      <a:pPr indent="0" marL="0">
                        <a:buNone/>
                      </a:pPr>
                      <a:r>
                        <a:rPr lang="en-US" sz="1250" b="1" dirty="0">
                          <a:solidFill>
                            <a:srgbClr val="065A82"/>
                          </a:solidFill>
                          <a:latin typeface="Meiryo" pitchFamily="34" charset="0"/>
                          <a:ea typeface="Meiryo" pitchFamily="34" charset="-122"/>
                          <a:cs typeface="Meiryo" pitchFamily="34" charset="-120"/>
                        </a:rPr>
                        <a:t>オホーツク海 南部の気圧偏差</a:t>
                      </a:r>
                      <a:endParaRPr lang="en-US" sz="125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algn="r" indent="0" marL="0">
                        <a:buNone/>
                      </a:pPr>
                      <a:r>
                        <a:rPr lang="en-US" sz="1250" b="1" dirty="0">
                          <a:solidFill>
                            <a:srgbClr val="065A82"/>
                          </a:solidFill>
                          <a:latin typeface="Meiryo" pitchFamily="34" charset="0"/>
                          <a:ea typeface="Meiryo" pitchFamily="34" charset="-122"/>
                          <a:cs typeface="Meiryo" pitchFamily="34" charset="-120"/>
                        </a:rPr>
                        <a:t>0.867</a:t>
                      </a:r>
                      <a:endParaRPr lang="en-US" sz="125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algn="r" indent="0" marL="0">
                        <a:buNone/>
                      </a:pPr>
                      <a:r>
                        <a:rPr lang="en-US" sz="1250" dirty="0">
                          <a:solidFill>
                            <a:srgbClr val="1A1A1A"/>
                          </a:solidFill>
                          <a:latin typeface="Meiryo" pitchFamily="34" charset="0"/>
                          <a:ea typeface="Meiryo" pitchFamily="34" charset="-122"/>
                          <a:cs typeface="Meiryo" pitchFamily="34" charset="-120"/>
                        </a:rPr>
                        <a:t>+2.29</a:t>
                      </a:r>
                      <a:endParaRPr lang="en-US" sz="125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indent="0" marL="0">
                        <a:buNone/>
                      </a:pPr>
                      <a:r>
                        <a:rPr lang="en-US" sz="1250" dirty="0">
                          <a:solidFill>
                            <a:srgbClr val="1A1A1A"/>
                          </a:solidFill>
                          <a:latin typeface="Meiryo" pitchFamily="34" charset="0"/>
                          <a:ea typeface="Meiryo" pitchFamily="34" charset="-122"/>
                          <a:cs typeface="Meiryo" pitchFamily="34" charset="-120"/>
                        </a:rPr>
                        <a:t>南部が高圧なほど該当しやすい</a:t>
                      </a:r>
                      <a:endParaRPr lang="en-US" sz="125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r>
              <a:tr h="384048">
                <a:tc>
                  <a:txBody>
                    <a:bodyPr/>
                    <a:lstStyle/>
                    <a:p>
                      <a:pPr indent="0" marL="0">
                        <a:buNone/>
                      </a:pPr>
                      <a:r>
                        <a:rPr lang="en-US" sz="1250" dirty="0">
                          <a:solidFill>
                            <a:srgbClr val="1A1A1A"/>
                          </a:solidFill>
                          <a:latin typeface="Meiryo" pitchFamily="34" charset="0"/>
                          <a:ea typeface="Meiryo" pitchFamily="34" charset="-122"/>
                          <a:cs typeface="Meiryo" pitchFamily="34" charset="-120"/>
                        </a:rPr>
                        <a:t>オホーツク海 北部の気圧偏差</a:t>
                      </a:r>
                      <a:endParaRPr lang="en-US" sz="125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algn="r" indent="0" marL="0">
                        <a:buNone/>
                      </a:pPr>
                      <a:r>
                        <a:rPr lang="en-US" sz="1250" dirty="0">
                          <a:solidFill>
                            <a:srgbClr val="1A1A1A"/>
                          </a:solidFill>
                          <a:latin typeface="Meiryo" pitchFamily="34" charset="0"/>
                          <a:ea typeface="Meiryo" pitchFamily="34" charset="-122"/>
                          <a:cs typeface="Meiryo" pitchFamily="34" charset="-120"/>
                        </a:rPr>
                        <a:t>0.783</a:t>
                      </a:r>
                      <a:endParaRPr lang="en-US" sz="125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algn="r" indent="0" marL="0">
                        <a:buNone/>
                      </a:pPr>
                      <a:r>
                        <a:rPr lang="en-US" sz="1250" dirty="0">
                          <a:solidFill>
                            <a:srgbClr val="1A1A1A"/>
                          </a:solidFill>
                          <a:latin typeface="Meiryo" pitchFamily="34" charset="0"/>
                          <a:ea typeface="Meiryo" pitchFamily="34" charset="-122"/>
                          <a:cs typeface="Meiryo" pitchFamily="34" charset="-120"/>
                        </a:rPr>
                        <a:t>+1.23</a:t>
                      </a:r>
                      <a:endParaRPr lang="en-US" sz="125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indent="0" marL="0">
                        <a:buNone/>
                      </a:pPr>
                      <a:r>
                        <a:rPr lang="en-US" sz="1250" dirty="0">
                          <a:solidFill>
                            <a:srgbClr val="1A1A1A"/>
                          </a:solidFill>
                          <a:latin typeface="Meiryo" pitchFamily="34" charset="0"/>
                          <a:ea typeface="Meiryo" pitchFamily="34" charset="-122"/>
                          <a:cs typeface="Meiryo" pitchFamily="34" charset="-120"/>
                        </a:rPr>
                        <a:t>北部の寄与は南部より小さい</a:t>
                      </a:r>
                      <a:endParaRPr lang="en-US" sz="125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r>
              <a:tr h="384048">
                <a:tc>
                  <a:txBody>
                    <a:bodyPr/>
                    <a:lstStyle/>
                    <a:p>
                      <a:pPr indent="0" marL="0">
                        <a:buNone/>
                      </a:pPr>
                      <a:r>
                        <a:rPr lang="en-US" sz="1250" b="1" dirty="0">
                          <a:solidFill>
                            <a:srgbClr val="065A82"/>
                          </a:solidFill>
                          <a:latin typeface="Meiryo" pitchFamily="34" charset="0"/>
                          <a:ea typeface="Meiryo" pitchFamily="34" charset="-122"/>
                          <a:cs typeface="Meiryo" pitchFamily="34" charset="-120"/>
                        </a:rPr>
                        <a:t>北日本の東西風（地衡風）</a:t>
                      </a:r>
                      <a:endParaRPr lang="en-US" sz="125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algn="r" indent="0" marL="0">
                        <a:buNone/>
                      </a:pPr>
                      <a:r>
                        <a:rPr lang="en-US" sz="1250" b="1" dirty="0">
                          <a:solidFill>
                            <a:srgbClr val="065A82"/>
                          </a:solidFill>
                          <a:latin typeface="Meiryo" pitchFamily="34" charset="0"/>
                          <a:ea typeface="Meiryo" pitchFamily="34" charset="-122"/>
                          <a:cs typeface="Meiryo" pitchFamily="34" charset="-120"/>
                        </a:rPr>
                        <a:t>0.807</a:t>
                      </a:r>
                      <a:endParaRPr lang="en-US" sz="125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algn="r" indent="0" marL="0">
                        <a:buNone/>
                      </a:pPr>
                      <a:r>
                        <a:rPr lang="en-US" sz="1250" dirty="0">
                          <a:solidFill>
                            <a:srgbClr val="1A1A1A"/>
                          </a:solidFill>
                          <a:latin typeface="Meiryo" pitchFamily="34" charset="0"/>
                          <a:ea typeface="Meiryo" pitchFamily="34" charset="-122"/>
                          <a:cs typeface="Meiryo" pitchFamily="34" charset="-120"/>
                        </a:rPr>
                        <a:t>−1.76</a:t>
                      </a:r>
                      <a:endParaRPr lang="en-US" sz="125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indent="0" marL="0">
                        <a:buNone/>
                      </a:pPr>
                      <a:r>
                        <a:rPr lang="en-US" sz="1250" dirty="0">
                          <a:solidFill>
                            <a:srgbClr val="1A1A1A"/>
                          </a:solidFill>
                          <a:latin typeface="Meiryo" pitchFamily="34" charset="0"/>
                          <a:ea typeface="Meiryo" pitchFamily="34" charset="-122"/>
                          <a:cs typeface="Meiryo" pitchFamily="34" charset="-120"/>
                        </a:rPr>
                        <a:t>負＝東寄りの風。やませに対応</a:t>
                      </a:r>
                      <a:endParaRPr lang="en-US" sz="125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r>
              <a:tr h="384048">
                <a:tc>
                  <a:txBody>
                    <a:bodyPr/>
                    <a:lstStyle/>
                    <a:p>
                      <a:pPr indent="0" marL="0">
                        <a:buNone/>
                      </a:pPr>
                      <a:r>
                        <a:rPr lang="en-US" sz="1250" dirty="0">
                          <a:solidFill>
                            <a:srgbClr val="1A1A1A"/>
                          </a:solidFill>
                          <a:latin typeface="Meiryo" pitchFamily="34" charset="0"/>
                          <a:ea typeface="Meiryo" pitchFamily="34" charset="-122"/>
                          <a:cs typeface="Meiryo" pitchFamily="34" charset="-120"/>
                        </a:rPr>
                        <a:t>高気圧中心の緯度</a:t>
                      </a:r>
                      <a:endParaRPr lang="en-US" sz="125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algn="r" indent="0" marL="0">
                        <a:buNone/>
                      </a:pPr>
                      <a:r>
                        <a:rPr lang="en-US" sz="1250" dirty="0">
                          <a:solidFill>
                            <a:srgbClr val="5A6472"/>
                          </a:solidFill>
                          <a:latin typeface="Meiryo" pitchFamily="34" charset="0"/>
                          <a:ea typeface="Meiryo" pitchFamily="34" charset="-122"/>
                          <a:cs typeface="Meiryo" pitchFamily="34" charset="-120"/>
                        </a:rPr>
                        <a:t>0.508</a:t>
                      </a:r>
                      <a:endParaRPr lang="en-US" sz="125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algn="r" indent="0" marL="0">
                        <a:buNone/>
                      </a:pPr>
                      <a:r>
                        <a:rPr lang="en-US" sz="1250" dirty="0">
                          <a:solidFill>
                            <a:srgbClr val="5A6472"/>
                          </a:solidFill>
                          <a:latin typeface="Meiryo" pitchFamily="34" charset="0"/>
                          <a:ea typeface="Meiryo" pitchFamily="34" charset="-122"/>
                          <a:cs typeface="Meiryo" pitchFamily="34" charset="-120"/>
                        </a:rPr>
                        <a:t>+0.56</a:t>
                      </a:r>
                      <a:endParaRPr lang="en-US" sz="125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c>
                  <a:txBody>
                    <a:bodyPr/>
                    <a:lstStyle/>
                    <a:p>
                      <a:pPr indent="0" marL="0">
                        <a:buNone/>
                      </a:pPr>
                      <a:r>
                        <a:rPr lang="en-US" sz="1250" dirty="0">
                          <a:solidFill>
                            <a:srgbClr val="5A6472"/>
                          </a:solidFill>
                          <a:latin typeface="Meiryo" pitchFamily="34" charset="0"/>
                          <a:ea typeface="Meiryo" pitchFamily="34" charset="-122"/>
                          <a:cs typeface="Meiryo" pitchFamily="34" charset="-120"/>
                        </a:rPr>
                        <a:t>効かず。中心位置より領域の高さ</a:t>
                      </a:r>
                      <a:endParaRPr lang="en-US" sz="1250" dirty="0">
                        <a:latin typeface="Meiryo" charset="0"/>
                        <a:ea typeface="Meiryo" charset="0"/>
                        <a:cs typeface="Meiryo" charset="0"/>
                      </a:endParaRPr>
                    </a:p>
                  </a:txBody>
                  <a:tcPr marL="91440" marR="91440" marT="45720" marB="45720" anchor="ctr">
                    <a:lnL w="12700" cap="flat" cmpd="sng" algn="ctr">
                      <a:solidFill>
                        <a:srgbClr val="E2E8ED"/>
                      </a:solidFill>
                      <a:prstDash val="solid"/>
                      <a:round/>
                      <a:headEnd type="none" w="med" len="med"/>
                      <a:tailEnd type="none" w="med" len="med"/>
                    </a:lnL>
                    <a:lnR w="12700" cap="flat" cmpd="sng" algn="ctr">
                      <a:solidFill>
                        <a:srgbClr val="E2E8ED"/>
                      </a:solidFill>
                      <a:prstDash val="solid"/>
                      <a:round/>
                      <a:headEnd type="none" w="med" len="med"/>
                      <a:tailEnd type="none" w="med" len="med"/>
                    </a:lnR>
                    <a:lnT w="12700" cap="flat" cmpd="sng" algn="ctr">
                      <a:solidFill>
                        <a:srgbClr val="E2E8ED"/>
                      </a:solidFill>
                      <a:prstDash val="solid"/>
                      <a:round/>
                      <a:headEnd type="none" w="med" len="med"/>
                      <a:tailEnd type="none" w="med" len="med"/>
                    </a:lnT>
                    <a:lnB w="12700" cap="flat" cmpd="sng" algn="ctr">
                      <a:solidFill>
                        <a:srgbClr val="E2E8ED"/>
                      </a:solidFill>
                      <a:prstDash val="solid"/>
                      <a:round/>
                      <a:headEnd type="none" w="med" len="med"/>
                      <a:tailEnd type="none" w="med" len="med"/>
                    </a:lnB>
                  </a:tcPr>
                </a:tc>
              </a:tr>
            </a:tbl>
          </a:graphicData>
        </a:graphic>
      </p:graphicFrame>
      <p:sp>
        <p:nvSpPr>
          <p:cNvPr id="8" name="Shape 5"/>
          <p:cNvSpPr/>
          <p:nvPr/>
        </p:nvSpPr>
        <p:spPr>
          <a:xfrm>
            <a:off x="548640" y="5257800"/>
            <a:ext cx="6949440" cy="1051560"/>
          </a:xfrm>
          <a:prstGeom prst="roundRect">
            <a:avLst>
              <a:gd name="adj" fmla="val 6957"/>
            </a:avLst>
          </a:prstGeom>
          <a:solidFill>
            <a:srgbClr val="21295C"/>
          </a:solidFill>
          <a:ln/>
        </p:spPr>
      </p:sp>
      <p:sp>
        <p:nvSpPr>
          <p:cNvPr id="9" name="Text 6"/>
          <p:cNvSpPr/>
          <p:nvPr/>
        </p:nvSpPr>
        <p:spPr>
          <a:xfrm>
            <a:off x="822960" y="5422392"/>
            <a:ext cx="6400800" cy="777240"/>
          </a:xfrm>
          <a:prstGeom prst="rect">
            <a:avLst/>
          </a:prstGeom>
          <a:noFill/>
          <a:ln/>
        </p:spPr>
        <p:txBody>
          <a:bodyPr wrap="square" lIns="0" tIns="0" rIns="0" bIns="0" rtlCol="0" anchor="ctr"/>
          <a:lstStyle/>
          <a:p>
            <a:pPr indent="0" marL="0">
              <a:buNone/>
            </a:pPr>
            <a:r>
              <a:rPr lang="en-US" sz="1350" b="1" dirty="0">
                <a:solidFill>
                  <a:srgbClr val="FFFFFF"/>
                </a:solidFill>
                <a:latin typeface="Meiryo" pitchFamily="34" charset="0"/>
                <a:ea typeface="Meiryo" pitchFamily="34" charset="-122"/>
                <a:cs typeface="Meiryo" pitchFamily="34" charset="-120"/>
              </a:rPr>
              <a:t>符号まで予報官の判断と一致し、季節を固定しても消えない。
</a:t>
            </a:r>
            <a:endParaRPr lang="en-US" sz="1350" dirty="0"/>
          </a:p>
          <a:p>
            <a:pPr indent="0" marL="0">
              <a:buNone/>
            </a:pPr>
            <a:r>
              <a:rPr lang="en-US" sz="1200" dirty="0">
                <a:solidFill>
                  <a:srgbClr val="CADCFC"/>
                </a:solidFill>
                <a:latin typeface="Meiryo" pitchFamily="34" charset="0"/>
                <a:ea typeface="Meiryo" pitchFamily="34" charset="-122"/>
                <a:cs typeface="Meiryo" pitchFamily="34" charset="-120"/>
              </a:rPr>
              <a:t>機械学習の技法ではなく、対象への理解が精度を上げた事例。</a:t>
            </a:r>
            <a:endParaRPr lang="en-US" sz="1350" dirty="0"/>
          </a:p>
        </p:txBody>
      </p:sp>
      <p:sp>
        <p:nvSpPr>
          <p:cNvPr id="10" name="Shape 7"/>
          <p:cNvSpPr/>
          <p:nvPr/>
        </p:nvSpPr>
        <p:spPr>
          <a:xfrm>
            <a:off x="7772400" y="5257800"/>
            <a:ext cx="3840480" cy="1051560"/>
          </a:xfrm>
          <a:prstGeom prst="roundRect">
            <a:avLst>
              <a:gd name="adj" fmla="val 6957"/>
            </a:avLst>
          </a:prstGeom>
          <a:solidFill>
            <a:srgbClr val="F4F7F9"/>
          </a:solidFill>
          <a:ln/>
        </p:spPr>
      </p:sp>
      <p:sp>
        <p:nvSpPr>
          <p:cNvPr id="11" name="Text 8"/>
          <p:cNvSpPr/>
          <p:nvPr/>
        </p:nvSpPr>
        <p:spPr>
          <a:xfrm>
            <a:off x="7973568" y="5376672"/>
            <a:ext cx="3474720" cy="868680"/>
          </a:xfrm>
          <a:prstGeom prst="rect">
            <a:avLst/>
          </a:prstGeom>
          <a:noFill/>
          <a:ln/>
        </p:spPr>
        <p:txBody>
          <a:bodyPr wrap="square" lIns="0" tIns="0" rIns="0" bIns="0" rtlCol="0" anchor="ctr"/>
          <a:lstStyle/>
          <a:p>
            <a:pPr indent="0" marL="0">
              <a:buNone/>
            </a:pPr>
            <a:r>
              <a:rPr lang="en-US" sz="1250" b="1" dirty="0">
                <a:solidFill>
                  <a:srgbClr val="1C7293"/>
                </a:solidFill>
                <a:latin typeface="Meiryo" pitchFamily="34" charset="0"/>
                <a:ea typeface="Meiryo" pitchFamily="34" charset="-122"/>
                <a:cs typeface="Meiryo" pitchFamily="34" charset="-120"/>
              </a:rPr>
              <a:t>季節の影響は確認済み
</a:t>
            </a:r>
            <a:endParaRPr lang="en-US" sz="1250" dirty="0"/>
          </a:p>
          <a:p>
            <a:pPr indent="0" marL="0">
              <a:buNone/>
            </a:pPr>
            <a:r>
              <a:rPr lang="en-US" sz="1000" dirty="0">
                <a:solidFill>
                  <a:srgbClr val="1A1A1A"/>
                </a:solidFill>
                <a:latin typeface="Meiryo" pitchFamily="34" charset="0"/>
                <a:ea typeface="Meiryo" pitchFamily="34" charset="-122"/>
                <a:cs typeface="Meiryo" pitchFamily="34" charset="-120"/>
              </a:rPr>
              <a:t>5〜8月に限って測り直しても、風は0.807で不変、南部の気圧は0.812を維持。一方850hPa気温は0.792→0.575に崩れ、季節の代理だったと判明。</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11064240" cy="274320"/>
          </a:xfrm>
          <a:prstGeom prst="rect">
            <a:avLst/>
          </a:prstGeom>
          <a:noFill/>
          <a:ln/>
        </p:spPr>
        <p:txBody>
          <a:bodyPr wrap="square" rtlCol="0" anchor="ctr"/>
          <a:lstStyle/>
          <a:p>
            <a:pPr indent="0" marL="0">
              <a:buNone/>
            </a:pPr>
            <a:r>
              <a:rPr lang="en-US" sz="1200" b="1" spc="100" kern="0" dirty="0">
                <a:solidFill>
                  <a:srgbClr val="1C7293"/>
                </a:solidFill>
                <a:latin typeface="Meiryo" pitchFamily="34" charset="0"/>
                <a:ea typeface="Meiryo" pitchFamily="34" charset="-122"/>
                <a:cs typeface="Meiryo" pitchFamily="34" charset="-120"/>
              </a:rPr>
              <a:t>次にやること</a:t>
            </a:r>
            <a:endParaRPr lang="en-US" sz="1200" dirty="0"/>
          </a:p>
        </p:txBody>
      </p:sp>
      <p:sp>
        <p:nvSpPr>
          <p:cNvPr id="3" name="Text 1"/>
          <p:cNvSpPr/>
          <p:nvPr/>
        </p:nvSpPr>
        <p:spPr>
          <a:xfrm>
            <a:off x="548640" y="621792"/>
            <a:ext cx="11064240" cy="640080"/>
          </a:xfrm>
          <a:prstGeom prst="rect">
            <a:avLst/>
          </a:prstGeom>
          <a:noFill/>
          <a:ln/>
        </p:spPr>
        <p:txBody>
          <a:bodyPr wrap="square" rtlCol="0" anchor="ctr"/>
          <a:lstStyle/>
          <a:p>
            <a:pPr indent="0" marL="0">
              <a:buNone/>
            </a:pPr>
            <a:r>
              <a:rPr lang="en-US" sz="3200" b="1" dirty="0">
                <a:solidFill>
                  <a:srgbClr val="1A1A1A"/>
                </a:solidFill>
                <a:latin typeface="Cambria" pitchFamily="34" charset="0"/>
                <a:ea typeface="Cambria" pitchFamily="34" charset="-122"/>
                <a:cs typeface="Cambria" pitchFamily="34" charset="-120"/>
              </a:rPr>
              <a:t>今後の課題</a:t>
            </a:r>
            <a:endParaRPr lang="en-US" sz="3200" dirty="0"/>
          </a:p>
        </p:txBody>
      </p:sp>
      <p:sp>
        <p:nvSpPr>
          <p:cNvPr id="4" name="Shape 2"/>
          <p:cNvSpPr/>
          <p:nvPr/>
        </p:nvSpPr>
        <p:spPr>
          <a:xfrm>
            <a:off x="640080" y="1636776"/>
            <a:ext cx="402336" cy="402336"/>
          </a:xfrm>
          <a:prstGeom prst="ellipse">
            <a:avLst/>
          </a:prstGeom>
          <a:solidFill>
            <a:srgbClr val="065A82"/>
          </a:solidFill>
          <a:ln/>
        </p:spPr>
      </p:sp>
      <p:sp>
        <p:nvSpPr>
          <p:cNvPr id="5" name="Text 3"/>
          <p:cNvSpPr/>
          <p:nvPr/>
        </p:nvSpPr>
        <p:spPr>
          <a:xfrm>
            <a:off x="640080" y="1682496"/>
            <a:ext cx="40233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p:nvPr/>
        </p:nvSpPr>
        <p:spPr>
          <a:xfrm>
            <a:off x="1234440" y="1600200"/>
            <a:ext cx="3931920" cy="365760"/>
          </a:xfrm>
          <a:prstGeom prst="rect">
            <a:avLst/>
          </a:prstGeom>
          <a:noFill/>
          <a:ln/>
        </p:spPr>
        <p:txBody>
          <a:bodyPr wrap="square" lIns="0" tIns="0" rIns="0" bIns="0" rtlCol="0" anchor="ctr"/>
          <a:lstStyle/>
          <a:p>
            <a:pPr indent="0" marL="0">
              <a:buNone/>
            </a:pPr>
            <a:r>
              <a:rPr lang="en-US" sz="1500" b="1" dirty="0">
                <a:solidFill>
                  <a:srgbClr val="1A1A1A"/>
                </a:solidFill>
                <a:latin typeface="Meiryo" pitchFamily="34" charset="0"/>
                <a:ea typeface="Meiryo" pitchFamily="34" charset="-122"/>
                <a:cs typeface="Meiryo" pitchFamily="34" charset="-120"/>
              </a:rPr>
              <a:t>実測の風データの追加</a:t>
            </a:r>
            <a:endParaRPr lang="en-US" sz="1500" dirty="0"/>
          </a:p>
        </p:txBody>
      </p:sp>
      <p:sp>
        <p:nvSpPr>
          <p:cNvPr id="7" name="Text 5"/>
          <p:cNvSpPr/>
          <p:nvPr/>
        </p:nvSpPr>
        <p:spPr>
          <a:xfrm>
            <a:off x="5257800" y="1581912"/>
            <a:ext cx="6309360" cy="566928"/>
          </a:xfrm>
          <a:prstGeom prst="rect">
            <a:avLst/>
          </a:prstGeom>
          <a:noFill/>
          <a:ln/>
        </p:spPr>
        <p:txBody>
          <a:bodyPr wrap="square" lIns="0" tIns="0" rIns="0" bIns="0" rtlCol="0" anchor="ctr"/>
          <a:lstStyle/>
          <a:p>
            <a:pPr indent="0" marL="0">
              <a:buNone/>
            </a:pPr>
            <a:r>
              <a:rPr lang="en-US" sz="1200" dirty="0">
                <a:solidFill>
                  <a:srgbClr val="5A6472"/>
                </a:solidFill>
                <a:latin typeface="Meiryo" pitchFamily="34" charset="0"/>
                <a:ea typeface="Meiryo" pitchFamily="34" charset="-122"/>
                <a:cs typeface="Meiryo" pitchFamily="34" charset="-120"/>
              </a:rPr>
              <a:t>現在は気圧から計算した地衡風。ERA5の風そのものを使えば、摩擦や上層の影響も含められる。</a:t>
            </a:r>
            <a:endParaRPr lang="en-US" sz="1200" dirty="0"/>
          </a:p>
        </p:txBody>
      </p:sp>
      <p:sp>
        <p:nvSpPr>
          <p:cNvPr id="8" name="Shape 6"/>
          <p:cNvSpPr/>
          <p:nvPr/>
        </p:nvSpPr>
        <p:spPr>
          <a:xfrm>
            <a:off x="640080" y="2432304"/>
            <a:ext cx="402336" cy="402336"/>
          </a:xfrm>
          <a:prstGeom prst="ellipse">
            <a:avLst/>
          </a:prstGeom>
          <a:solidFill>
            <a:srgbClr val="B3341F"/>
          </a:solidFill>
          <a:ln/>
        </p:spPr>
      </p:sp>
      <p:sp>
        <p:nvSpPr>
          <p:cNvPr id="9" name="Text 7"/>
          <p:cNvSpPr/>
          <p:nvPr/>
        </p:nvSpPr>
        <p:spPr>
          <a:xfrm>
            <a:off x="640080" y="2478024"/>
            <a:ext cx="40233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0" name="Text 8"/>
          <p:cNvSpPr/>
          <p:nvPr/>
        </p:nvSpPr>
        <p:spPr>
          <a:xfrm>
            <a:off x="1234440" y="2395728"/>
            <a:ext cx="3931920" cy="365760"/>
          </a:xfrm>
          <a:prstGeom prst="rect">
            <a:avLst/>
          </a:prstGeom>
          <a:noFill/>
          <a:ln/>
        </p:spPr>
        <p:txBody>
          <a:bodyPr wrap="square" lIns="0" tIns="0" rIns="0" bIns="0" rtlCol="0" anchor="ctr"/>
          <a:lstStyle/>
          <a:p>
            <a:pPr indent="0" marL="0">
              <a:buNone/>
            </a:pPr>
            <a:r>
              <a:rPr lang="en-US" sz="1500" b="1" dirty="0">
                <a:solidFill>
                  <a:srgbClr val="1A1A1A"/>
                </a:solidFill>
                <a:latin typeface="Meiryo" pitchFamily="34" charset="0"/>
                <a:ea typeface="Meiryo" pitchFamily="34" charset="-122"/>
                <a:cs typeface="Meiryo" pitchFamily="34" charset="-120"/>
              </a:rPr>
              <a:t>ラベルの再現性の測定</a:t>
            </a:r>
            <a:endParaRPr lang="en-US" sz="1500" dirty="0"/>
          </a:p>
        </p:txBody>
      </p:sp>
      <p:sp>
        <p:nvSpPr>
          <p:cNvPr id="11" name="Text 9"/>
          <p:cNvSpPr/>
          <p:nvPr/>
        </p:nvSpPr>
        <p:spPr>
          <a:xfrm>
            <a:off x="5257800" y="2377440"/>
            <a:ext cx="6309360" cy="566928"/>
          </a:xfrm>
          <a:prstGeom prst="rect">
            <a:avLst/>
          </a:prstGeom>
          <a:noFill/>
          <a:ln/>
        </p:spPr>
        <p:txBody>
          <a:bodyPr wrap="square" lIns="0" tIns="0" rIns="0" bIns="0" rtlCol="0" anchor="ctr"/>
          <a:lstStyle/>
          <a:p>
            <a:pPr indent="0" marL="0">
              <a:buNone/>
            </a:pPr>
            <a:r>
              <a:rPr lang="en-US" sz="1200" dirty="0">
                <a:solidFill>
                  <a:srgbClr val="5A6472"/>
                </a:solidFill>
                <a:latin typeface="Meiryo" pitchFamily="34" charset="0"/>
                <a:ea typeface="Meiryo" pitchFamily="34" charset="-122"/>
                <a:cs typeface="Meiryo" pitchFamily="34" charset="-120"/>
              </a:rPr>
              <a:t>同じ天気図に答えを見ずに再度ラベル付けし、人間の判断のゆらぎを測る。これが達成可能な性能の上限になる。</a:t>
            </a:r>
            <a:endParaRPr lang="en-US" sz="1200" dirty="0"/>
          </a:p>
        </p:txBody>
      </p:sp>
      <p:sp>
        <p:nvSpPr>
          <p:cNvPr id="12" name="Shape 10"/>
          <p:cNvSpPr/>
          <p:nvPr/>
        </p:nvSpPr>
        <p:spPr>
          <a:xfrm>
            <a:off x="640080" y="3227832"/>
            <a:ext cx="402336" cy="402336"/>
          </a:xfrm>
          <a:prstGeom prst="ellipse">
            <a:avLst/>
          </a:prstGeom>
          <a:solidFill>
            <a:srgbClr val="065A82"/>
          </a:solidFill>
          <a:ln/>
        </p:spPr>
      </p:sp>
      <p:sp>
        <p:nvSpPr>
          <p:cNvPr id="13" name="Text 11"/>
          <p:cNvSpPr/>
          <p:nvPr/>
        </p:nvSpPr>
        <p:spPr>
          <a:xfrm>
            <a:off x="640080" y="3273552"/>
            <a:ext cx="40233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p:nvPr/>
        </p:nvSpPr>
        <p:spPr>
          <a:xfrm>
            <a:off x="1234440" y="3191256"/>
            <a:ext cx="3931920" cy="365760"/>
          </a:xfrm>
          <a:prstGeom prst="rect">
            <a:avLst/>
          </a:prstGeom>
          <a:noFill/>
          <a:ln/>
        </p:spPr>
        <p:txBody>
          <a:bodyPr wrap="square" lIns="0" tIns="0" rIns="0" bIns="0" rtlCol="0" anchor="ctr"/>
          <a:lstStyle/>
          <a:p>
            <a:pPr indent="0" marL="0">
              <a:buNone/>
            </a:pPr>
            <a:r>
              <a:rPr lang="en-US" sz="1500" b="1" dirty="0">
                <a:solidFill>
                  <a:srgbClr val="1A1A1A"/>
                </a:solidFill>
                <a:latin typeface="Meiryo" pitchFamily="34" charset="0"/>
                <a:ea typeface="Meiryo" pitchFamily="34" charset="-122"/>
                <a:cs typeface="Meiryo" pitchFamily="34" charset="-120"/>
              </a:rPr>
              <a:t>乱数シードを変えた再現確認</a:t>
            </a:r>
            <a:endParaRPr lang="en-US" sz="1500" dirty="0"/>
          </a:p>
        </p:txBody>
      </p:sp>
      <p:sp>
        <p:nvSpPr>
          <p:cNvPr id="15" name="Text 13"/>
          <p:cNvSpPr/>
          <p:nvPr/>
        </p:nvSpPr>
        <p:spPr>
          <a:xfrm>
            <a:off x="5257800" y="3172968"/>
            <a:ext cx="6309360" cy="566928"/>
          </a:xfrm>
          <a:prstGeom prst="rect">
            <a:avLst/>
          </a:prstGeom>
          <a:noFill/>
          <a:ln/>
        </p:spPr>
        <p:txBody>
          <a:bodyPr wrap="square" lIns="0" tIns="0" rIns="0" bIns="0" rtlCol="0" anchor="ctr"/>
          <a:lstStyle/>
          <a:p>
            <a:pPr indent="0" marL="0">
              <a:buNone/>
            </a:pPr>
            <a:r>
              <a:rPr lang="en-US" sz="1200" dirty="0">
                <a:solidFill>
                  <a:srgbClr val="5A6472"/>
                </a:solidFill>
                <a:latin typeface="Meiryo" pitchFamily="34" charset="0"/>
                <a:ea typeface="Meiryo" pitchFamily="34" charset="-122"/>
                <a:cs typeface="Meiryo" pitchFamily="34" charset="-120"/>
              </a:rPr>
              <a:t>現在の +0.017 という改善は1条件のみの結果。複数回繰り返して安定性を確認する。</a:t>
            </a:r>
            <a:endParaRPr lang="en-US" sz="1200" dirty="0"/>
          </a:p>
        </p:txBody>
      </p:sp>
      <p:sp>
        <p:nvSpPr>
          <p:cNvPr id="16" name="Shape 14"/>
          <p:cNvSpPr/>
          <p:nvPr/>
        </p:nvSpPr>
        <p:spPr>
          <a:xfrm>
            <a:off x="640080" y="4023360"/>
            <a:ext cx="402336" cy="402336"/>
          </a:xfrm>
          <a:prstGeom prst="ellipse">
            <a:avLst/>
          </a:prstGeom>
          <a:solidFill>
            <a:srgbClr val="065A82"/>
          </a:solidFill>
          <a:ln/>
        </p:spPr>
      </p:sp>
      <p:sp>
        <p:nvSpPr>
          <p:cNvPr id="17" name="Text 15"/>
          <p:cNvSpPr/>
          <p:nvPr/>
        </p:nvSpPr>
        <p:spPr>
          <a:xfrm>
            <a:off x="640080" y="4069080"/>
            <a:ext cx="40233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p:nvPr/>
        </p:nvSpPr>
        <p:spPr>
          <a:xfrm>
            <a:off x="1234440" y="3986784"/>
            <a:ext cx="3931920" cy="365760"/>
          </a:xfrm>
          <a:prstGeom prst="rect">
            <a:avLst/>
          </a:prstGeom>
          <a:noFill/>
          <a:ln/>
        </p:spPr>
        <p:txBody>
          <a:bodyPr wrap="square" lIns="0" tIns="0" rIns="0" bIns="0" rtlCol="0" anchor="ctr"/>
          <a:lstStyle/>
          <a:p>
            <a:pPr indent="0" marL="0">
              <a:buNone/>
            </a:pPr>
            <a:r>
              <a:rPr lang="en-US" sz="1500" b="1" dirty="0">
                <a:solidFill>
                  <a:srgbClr val="1A1A1A"/>
                </a:solidFill>
                <a:latin typeface="Meiryo" pitchFamily="34" charset="0"/>
                <a:ea typeface="Meiryo" pitchFamily="34" charset="-122"/>
                <a:cs typeface="Meiryo" pitchFamily="34" charset="-120"/>
              </a:rPr>
              <a:t>確信度の較正</a:t>
            </a:r>
            <a:endParaRPr lang="en-US" sz="1500" dirty="0"/>
          </a:p>
        </p:txBody>
      </p:sp>
      <p:sp>
        <p:nvSpPr>
          <p:cNvPr id="19" name="Text 17"/>
          <p:cNvSpPr/>
          <p:nvPr/>
        </p:nvSpPr>
        <p:spPr>
          <a:xfrm>
            <a:off x="5257800" y="3968496"/>
            <a:ext cx="6309360" cy="566928"/>
          </a:xfrm>
          <a:prstGeom prst="rect">
            <a:avLst/>
          </a:prstGeom>
          <a:noFill/>
          <a:ln/>
        </p:spPr>
        <p:txBody>
          <a:bodyPr wrap="square" lIns="0" tIns="0" rIns="0" bIns="0" rtlCol="0" anchor="ctr"/>
          <a:lstStyle/>
          <a:p>
            <a:pPr indent="0" marL="0">
              <a:buNone/>
            </a:pPr>
            <a:r>
              <a:rPr lang="en-US" sz="1200" dirty="0">
                <a:solidFill>
                  <a:srgbClr val="5A6472"/>
                </a:solidFill>
                <a:latin typeface="Meiryo" pitchFamily="34" charset="0"/>
                <a:ea typeface="Meiryo" pitchFamily="34" charset="-122"/>
                <a:cs typeface="Meiryo" pitchFamily="34" charset="-120"/>
              </a:rPr>
              <a:t>確信度の中央値0.977に対し実際の性能は0.613。自信過剰であり、補正が必要。</a:t>
            </a:r>
            <a:endParaRPr lang="en-US" sz="1200" dirty="0"/>
          </a:p>
        </p:txBody>
      </p:sp>
      <p:sp>
        <p:nvSpPr>
          <p:cNvPr id="20" name="Shape 18"/>
          <p:cNvSpPr/>
          <p:nvPr/>
        </p:nvSpPr>
        <p:spPr>
          <a:xfrm>
            <a:off x="640080" y="4818888"/>
            <a:ext cx="402336" cy="402336"/>
          </a:xfrm>
          <a:prstGeom prst="ellipse">
            <a:avLst/>
          </a:prstGeom>
          <a:solidFill>
            <a:srgbClr val="1C7293"/>
          </a:solidFill>
          <a:ln/>
        </p:spPr>
      </p:sp>
      <p:sp>
        <p:nvSpPr>
          <p:cNvPr id="21" name="Text 19"/>
          <p:cNvSpPr/>
          <p:nvPr/>
        </p:nvSpPr>
        <p:spPr>
          <a:xfrm>
            <a:off x="640080" y="4864608"/>
            <a:ext cx="40233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2" name="Text 20"/>
          <p:cNvSpPr/>
          <p:nvPr/>
        </p:nvSpPr>
        <p:spPr>
          <a:xfrm>
            <a:off x="1234440" y="4782312"/>
            <a:ext cx="3931920" cy="365760"/>
          </a:xfrm>
          <a:prstGeom prst="rect">
            <a:avLst/>
          </a:prstGeom>
          <a:noFill/>
          <a:ln/>
        </p:spPr>
        <p:txBody>
          <a:bodyPr wrap="square" lIns="0" tIns="0" rIns="0" bIns="0" rtlCol="0" anchor="ctr"/>
          <a:lstStyle/>
          <a:p>
            <a:pPr indent="0" marL="0">
              <a:buNone/>
            </a:pPr>
            <a:r>
              <a:rPr lang="en-US" sz="1500" b="1" dirty="0">
                <a:solidFill>
                  <a:srgbClr val="1A1A1A"/>
                </a:solidFill>
                <a:latin typeface="Meiryo" pitchFamily="34" charset="0"/>
                <a:ea typeface="Meiryo" pitchFamily="34" charset="-122"/>
                <a:cs typeface="Meiryo" pitchFamily="34" charset="-120"/>
              </a:rPr>
              <a:t>時間方向の情報の利用</a:t>
            </a:r>
            <a:endParaRPr lang="en-US" sz="1500" dirty="0"/>
          </a:p>
        </p:txBody>
      </p:sp>
      <p:sp>
        <p:nvSpPr>
          <p:cNvPr id="23" name="Text 21"/>
          <p:cNvSpPr/>
          <p:nvPr/>
        </p:nvSpPr>
        <p:spPr>
          <a:xfrm>
            <a:off x="5257800" y="4764024"/>
            <a:ext cx="6309360" cy="566928"/>
          </a:xfrm>
          <a:prstGeom prst="rect">
            <a:avLst/>
          </a:prstGeom>
          <a:noFill/>
          <a:ln/>
        </p:spPr>
        <p:txBody>
          <a:bodyPr wrap="square" lIns="0" tIns="0" rIns="0" bIns="0" rtlCol="0" anchor="ctr"/>
          <a:lstStyle/>
          <a:p>
            <a:pPr indent="0" marL="0">
              <a:buNone/>
            </a:pPr>
            <a:r>
              <a:rPr lang="en-US" sz="1200" dirty="0">
                <a:solidFill>
                  <a:srgbClr val="5A6472"/>
                </a:solidFill>
                <a:latin typeface="Meiryo" pitchFamily="34" charset="0"/>
                <a:ea typeface="Meiryo" pitchFamily="34" charset="-122"/>
                <a:cs typeface="Meiryo" pitchFamily="34" charset="-120"/>
              </a:rPr>
              <a:t>「前線通過」「停滞」、および「北東気流が入りそう」という予測は、単一時刻では原理的に判別できない。</a:t>
            </a:r>
            <a:endParaRPr lang="en-US" sz="1200" dirty="0"/>
          </a:p>
        </p:txBody>
      </p:sp>
      <p:sp>
        <p:nvSpPr>
          <p:cNvPr id="24" name="Shape 22"/>
          <p:cNvSpPr/>
          <p:nvPr/>
        </p:nvSpPr>
        <p:spPr>
          <a:xfrm>
            <a:off x="640080" y="5623560"/>
            <a:ext cx="10972800" cy="868680"/>
          </a:xfrm>
          <a:prstGeom prst="roundRect">
            <a:avLst>
              <a:gd name="adj" fmla="val 8421"/>
            </a:avLst>
          </a:prstGeom>
          <a:solidFill>
            <a:srgbClr val="F4F7F9"/>
          </a:solidFill>
          <a:ln/>
        </p:spPr>
      </p:sp>
      <p:sp>
        <p:nvSpPr>
          <p:cNvPr id="25" name="Text 23"/>
          <p:cNvSpPr/>
          <p:nvPr/>
        </p:nvSpPr>
        <p:spPr>
          <a:xfrm>
            <a:off x="914400" y="5833872"/>
            <a:ext cx="10424160" cy="457200"/>
          </a:xfrm>
          <a:prstGeom prst="rect">
            <a:avLst/>
          </a:prstGeom>
          <a:noFill/>
          <a:ln/>
        </p:spPr>
        <p:txBody>
          <a:bodyPr wrap="square" lIns="0" tIns="0" rIns="0" bIns="0" rtlCol="0" anchor="ctr"/>
          <a:lstStyle/>
          <a:p>
            <a:pPr indent="0" marL="0">
              <a:buNone/>
            </a:pPr>
            <a:r>
              <a:rPr lang="en-US" sz="1350" b="1" dirty="0">
                <a:solidFill>
                  <a:srgbClr val="B3341F"/>
                </a:solidFill>
                <a:latin typeface="Meiryo" pitchFamily="34" charset="0"/>
                <a:ea typeface="Meiryo" pitchFamily="34" charset="-122"/>
                <a:cs typeface="Meiryo" pitchFamily="34" charset="-120"/>
              </a:rPr>
              <a:t>優先度が最も高いのは 2 。</a:t>
            </a:r>
            <a:pPr indent="0" marL="0">
              <a:buNone/>
            </a:pPr>
            <a:r>
              <a:rPr lang="en-US" sz="1250" dirty="0">
                <a:solidFill>
                  <a:srgbClr val="1A1A1A"/>
                </a:solidFill>
                <a:latin typeface="Meiryo" pitchFamily="34" charset="0"/>
                <a:ea typeface="Meiryo" pitchFamily="34" charset="-122"/>
                <a:cs typeface="Meiryo" pitchFamily="34" charset="-120"/>
              </a:rPr>
              <a:t>　人間の一致率が分からなければ、0.63 という数値が良いのか悪いのかを判断できない。</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2026-08-20T00:17:32Z</dcterms:created>
  <dcterms:modified xsi:type="dcterms:W3CDTF">2026-08-20T00:17:32Z</dcterms:modified>
</cp:coreProperties>
</file>