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基本モデル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西高東低</c:v>
                  </c:pt>
                  <c:pt idx="1">
                    <c:v>台風</c:v>
                  </c:pt>
                  <c:pt idx="2">
                    <c:v>前線通過</c:v>
                  </c:pt>
                  <c:pt idx="3">
                    <c:v>移動性高気圧</c:v>
                  </c:pt>
                  <c:pt idx="4">
                    <c:v>停滞前線</c:v>
                  </c:pt>
                  <c:pt idx="5">
                    <c:v>日本海低気圧</c:v>
                  </c:pt>
                  <c:pt idx="6">
                    <c:v>南岸低気圧</c:v>
                  </c:pt>
                  <c:pt idx="7">
                    <c:v>太平洋高気圧型</c:v>
                  </c:pt>
                  <c:pt idx="8">
                    <c:v>二つ玉低気圧</c:v>
                  </c:pt>
                  <c:pt idx="9">
                    <c:v>オホーツク海高気圧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0.765</c:v>
                </c:pt>
                <c:pt idx="1">
                  <c:v>0.776</c:v>
                </c:pt>
                <c:pt idx="2">
                  <c:v>0.721</c:v>
                </c:pt>
                <c:pt idx="3">
                  <c:v>0.719</c:v>
                </c:pt>
                <c:pt idx="4">
                  <c:v>0.737</c:v>
                </c:pt>
                <c:pt idx="5">
                  <c:v>0.671</c:v>
                </c:pt>
                <c:pt idx="6">
                  <c:v>0.596</c:v>
                </c:pt>
                <c:pt idx="7">
                  <c:v>0.5</c:v>
                </c:pt>
                <c:pt idx="8">
                  <c:v>0.485</c:v>
                </c:pt>
                <c:pt idx="9">
                  <c:v>0.155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座標情報を追加（CoordConv）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西高東低</c:v>
                  </c:pt>
                  <c:pt idx="1">
                    <c:v>台風</c:v>
                  </c:pt>
                  <c:pt idx="2">
                    <c:v>前線通過</c:v>
                  </c:pt>
                  <c:pt idx="3">
                    <c:v>移動性高気圧</c:v>
                  </c:pt>
                  <c:pt idx="4">
                    <c:v>停滞前線</c:v>
                  </c:pt>
                  <c:pt idx="5">
                    <c:v>日本海低気圧</c:v>
                  </c:pt>
                  <c:pt idx="6">
                    <c:v>南岸低気圧</c:v>
                  </c:pt>
                  <c:pt idx="7">
                    <c:v>太平洋高気圧型</c:v>
                  </c:pt>
                  <c:pt idx="8">
                    <c:v>二つ玉低気圧</c:v>
                  </c:pt>
                  <c:pt idx="9">
                    <c:v>オホーツク海高気圧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0.769</c:v>
                </c:pt>
                <c:pt idx="1">
                  <c:v>0.745</c:v>
                </c:pt>
                <c:pt idx="2">
                  <c:v>0.74</c:v>
                </c:pt>
                <c:pt idx="3">
                  <c:v>0.725</c:v>
                </c:pt>
                <c:pt idx="4">
                  <c:v>0.726</c:v>
                </c:pt>
                <c:pt idx="5">
                  <c:v>0.668</c:v>
                </c:pt>
                <c:pt idx="6">
                  <c:v>0.633</c:v>
                </c:pt>
                <c:pt idx="7">
                  <c:v>0.558</c:v>
                </c:pt>
                <c:pt idx="8">
                  <c:v>0.497</c:v>
                </c:pt>
                <c:pt idx="9">
                  <c:v>0.24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</c:scaling>
        <c:delete val="0"/>
        <c:axPos val="b"/>
        <c:majorGridlines>
          <c:spPr>
            <a:ln w="12700" cap="flat">
              <a:solidFill>
                <a:srgbClr val="EBE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5A6472"/>
                </a:solidFill>
                <a:latin typeface="Arial"/>
              </a:rPr>
              <a:t>ERA5の数値だけで判別したときの AUC（0.5＝無情報）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西高東低</c:v>
                  </c:pt>
                  <c:pt idx="1">
                    <c:v>台風</c:v>
                  </c:pt>
                  <c:pt idx="2">
                    <c:v>太平洋高気圧型</c:v>
                  </c:pt>
                  <c:pt idx="3">
                    <c:v>オホーツク海高気圧</c:v>
                  </c:pt>
                  <c:pt idx="4">
                    <c:v>二つ玉低気圧</c:v>
                  </c:pt>
                  <c:pt idx="5">
                    <c:v>南岸低気圧</c:v>
                  </c:pt>
                  <c:pt idx="6">
                    <c:v>移動性高気圧</c:v>
                  </c:pt>
                  <c:pt idx="7">
                    <c:v>日本海低気圧</c:v>
                  </c:pt>
                  <c:pt idx="8">
                    <c:v>停滞前線</c:v>
                  </c:pt>
                  <c:pt idx="9">
                    <c:v>前線通過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0.953</c:v>
                </c:pt>
                <c:pt idx="1">
                  <c:v>0.94</c:v>
                </c:pt>
                <c:pt idx="2">
                  <c:v>0.884</c:v>
                </c:pt>
                <c:pt idx="3">
                  <c:v>0.879</c:v>
                </c:pt>
                <c:pt idx="4">
                  <c:v>0.855</c:v>
                </c:pt>
                <c:pt idx="5">
                  <c:v>0.83</c:v>
                </c:pt>
                <c:pt idx="6">
                  <c:v>0.825</c:v>
                </c:pt>
                <c:pt idx="7">
                  <c:v>0.822</c:v>
                </c:pt>
                <c:pt idx="8">
                  <c:v>0.777</c:v>
                </c:pt>
                <c:pt idx="9">
                  <c:v>0.756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BE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進捗報告のまとめ。方法論の見直し、現在の成績、学習量と性能の関係、オホーツク海高気圧の分析、今後の課題の順で説明する。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2432枚を手作業でラベル付けした。1枚に複数の気圧配置が共存するため多ラベル分類として扱う。ラベルの件数には11倍の偏りがあり、損失に重みを付けて対処している。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に得られた0.75は、同じ日の00Zと12Zが学習側と評価側に分かれていたことによる過大評価。実際に測ると評価画像の95%が学習画像の1日以内にあった。時期で完全に分離して測り直し、交差検証で0.613を得た。報告にはこちらを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基本モデルに座標情報を加えた比較。全体では0.613から0.630。位置で定義されるラベルが最も改善しており、事前の仮説と一致する。ただし乱数シード1条件のみの結果で、再現性の確認は今後の課題。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学習件数を100から1155まで変えて測定した。対数関数でよく説明でき、現在は収穫逓減の領域にある。この式から追加ラベリングの費用対効果を見積もれる。ただし表の数値は外挿であり実測ではない。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9つのラベルは学習量とともに伸びているが、オホーツク海高気圧だけ完全に平坦。学習量を11倍にしても改善しないということは、このラベルの問題はデータ不足ではない。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Grad-CAMによる可視化、学習曲線、ERA5を使った検証。3つの別々の方法が同じ結論を指している。畳み込みは平行移動に対して同じ反応をするため、位置が定義に含まれるラベルを苦手とする。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ERA5の格子データから領域ごとの気圧偏差などを計算し、線形モデルで判別できるかを確認した。オホーツク海高気圧でAUC 0.879。情報は存在する。現在これをCNNに統合して交差検証を実施中。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次の5項目。特に2のラベル再現性の測定を優先したい。人間でも判断が揺れるなら、モデルがそれを超えることは原理的にない。上限を知ることで、現在の到達度を初めて評価できる。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天気図の気圧配置分類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畳み込みニューラルネットワークによる多ラベル分類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FB8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進捗報告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2011680" cy="274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572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8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2026年8月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研究の枠組み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対象データとラベル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4F7F9"/>
          </a:solidFill>
          <a:ln/>
          <a:effectLst>
            <a:outerShdw sx="100000" sy="100000" kx="0" ky="0" algn="bl" rotWithShape="0" blurRad="101600" dist="25400" dir="5400000">
              <a:srgbClr val="C9D4DC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1907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2,432枚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手作業でラベル付けした天気図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4F7F9"/>
          </a:solidFill>
          <a:ln/>
          <a:effectLst>
            <a:outerShdw sx="100000" sy="100000" kx="0" ky="0" algn="bl" rotWithShape="0" blurRad="101600" dist="25400" dir="5400000">
              <a:srgbClr val="C9D4DC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71907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10種類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74720" y="2423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気圧配置のラベル（重複あり）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4F7F9"/>
          </a:solidFill>
          <a:ln/>
          <a:effectLst>
            <a:outerShdw sx="100000" sy="100000" kx="0" ky="0" algn="bl" rotWithShape="0" blurRad="101600" dist="25400" dir="5400000">
              <a:srgbClr val="C9D4DC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09360" y="171907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3年分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423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2023〜2025年（1日2回 00Z/12Z）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5544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4F7F9"/>
          </a:solidFill>
          <a:ln/>
          <a:effectLst>
            <a:outerShdw sx="100000" sy="100000" kx="0" ky="0" algn="bl" rotWithShape="0" blurRad="101600" dist="25400" dir="5400000">
              <a:srgbClr val="C9D4DC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0" y="171907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多ラベル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1枚に複数の気圧配置が共存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7863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2743200"/>
                <a:gridCol w="9144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ラベル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ラベル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移動性高気圧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968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南岸低気圧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停滞前線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670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太平洋高気圧型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248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日本海低気圧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430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台風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219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西高東低（冬型）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377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二つ玉低気圧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106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前線通過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359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341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オホーツク海高気圧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341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8778240" y="3291840"/>
            <a:ext cx="2834640" cy="2103120"/>
          </a:xfrm>
          <a:prstGeom prst="roundRect">
            <a:avLst>
              <a:gd name="adj" fmla="val 3478"/>
            </a:avLst>
          </a:prstGeom>
          <a:solidFill>
            <a:srgbClr val="FDF1EE"/>
          </a:solidFill>
          <a:ln/>
        </p:spPr>
      </p:sp>
      <p:sp>
        <p:nvSpPr>
          <p:cNvPr id="18" name="Text 15"/>
          <p:cNvSpPr/>
          <p:nvPr/>
        </p:nvSpPr>
        <p:spPr>
          <a:xfrm>
            <a:off x="8961120" y="3456432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34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件数の偏り
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最多の移動性高気圧と最少のオホーツク海高気圧で 11倍 の差。少数ラベルが不利になるため、損失関数に重み付け（pos_weight）を行っている。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方法論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評価方法の見直し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当初のランダム分割では、同じ日の00Zと12Zが学習側と評価側に分かれ、性能が過大評価されていた。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DF1E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21284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34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ランダム分割（当初）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3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評価画像の95%が、学習画像と1日以内。実質的に答えを見ていた。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15968" y="20116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/>
        </p:spPr>
      </p:sp>
      <p:sp>
        <p:nvSpPr>
          <p:cNvPr id="10" name="Text 8"/>
          <p:cNvSpPr/>
          <p:nvPr/>
        </p:nvSpPr>
        <p:spPr>
          <a:xfrm>
            <a:off x="4544568" y="221284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時間ブロック分割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44568" y="26060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44568" y="34290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学習と評価を時期で完全に分離。前後3日を除外（purging）。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92440" y="20116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221284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交差検証（最終）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6060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0.613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321040" y="34290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各年を順にテストに使い3回の平均。± 0.006 と安定。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5262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報告する数値は 0.613 とする。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0.75 は評価設計の誤りによる過大評価であり、使用しない。低い数値を採ることが、実運用で得られる性能を正しく示す。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現在の到達点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ラベル別の成績と改善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7863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595360" y="1417320"/>
            <a:ext cx="3063240" cy="2148840"/>
          </a:xfrm>
          <a:prstGeom prst="roundRect">
            <a:avLst>
              <a:gd name="adj" fmla="val 3404"/>
            </a:avLst>
          </a:prstGeom>
          <a:solidFill>
            <a:srgbClr val="F4F7F9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0" y="1600200"/>
            <a:ext cx="2697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 macro F1
</a:t>
            </a:r>
            <a:endParaRPr lang="en-US" sz="1200" dirty="0"/>
          </a:p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0.613  →  0.630
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位置で定義される3ラベルが最も改善した。畳み込みは平行移動に対して同じ反応をするため、位置そのものを与えた。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778240" y="379476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改善幅の上位3つ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B334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オホーツク海高気圧  +0.085
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太平洋高気圧型  +0.058
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南岸低気圧  +0.037
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いずれも「どこにあるか」が定義に含まれるラベル。仮説どおりの結果。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担当教官からの課題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学習データ量と性能の関係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223760" cy="43342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8064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同一のテストセット（2025年通年 718枚）で、学習件数だけを変えて測定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955280" y="1371600"/>
            <a:ext cx="3703320" cy="1965960"/>
          </a:xfrm>
          <a:prstGeom prst="roundRect">
            <a:avLst>
              <a:gd name="adj" fmla="val 3721"/>
            </a:avLst>
          </a:prstGeom>
          <a:solidFill>
            <a:srgbClr val="F4F7F9"/>
          </a:solidFill>
          <a:ln/>
        </p:spPr>
      </p:sp>
      <p:sp>
        <p:nvSpPr>
          <p:cNvPr id="7" name="Text 4"/>
          <p:cNvSpPr/>
          <p:nvPr/>
        </p:nvSpPr>
        <p:spPr>
          <a:xfrm>
            <a:off x="8138160" y="1536192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収穫逓減が明確
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100→300件では100件あたり +0.073 伸びたが、900→1155件では +0.007。伸び幅は 10分の1 に落ちている。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3611880"/>
          <a:ext cx="3703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必要な追加ラベリング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0.610 → 0.63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270枚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0.610 → 0.66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780枚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0.610 → 0.71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 2,100枚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7955280" y="51206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F1 = 0.097 × ln(件数) − 0.058　（R² = 0.96）の外挿。実測ではない点に注意。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学習曲線の内訳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1つのラベルだけ、データを増やしても伸びない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6725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1081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34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 ＝ オホーツク海高気圧。学習量を11倍にしても 0.14 → 0.12 で変化しない。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原因の特定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オホーツク海高気圧が当たらない理由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3つの独立した分析が、同じ結論を指している。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4F7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7627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311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223113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Grad-CAM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正解している場合でも、モデルはオホーツク海の高気圧本体ではなく、日本海北部〜北海道の等圧線を見ていた。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96596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4F7F9"/>
          </a:solidFill>
          <a:ln/>
        </p:spPr>
      </p:sp>
      <p:sp>
        <p:nvSpPr>
          <p:cNvPr id="11" name="Shape 9"/>
          <p:cNvSpPr/>
          <p:nvPr/>
        </p:nvSpPr>
        <p:spPr>
          <a:xfrm>
            <a:off x="4526280" y="217627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2311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0640" y="223113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学習曲線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26280" y="27889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学習量を11倍にしてもF1は0.14→0.12で変化なし。データ不足では説明できない。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196596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4F7F9"/>
          </a:solidFill>
          <a:ln/>
        </p:spPr>
      </p:sp>
      <p:sp>
        <p:nvSpPr>
          <p:cNvPr id="16" name="Shape 14"/>
          <p:cNvSpPr/>
          <p:nvPr/>
        </p:nvSpPr>
        <p:spPr>
          <a:xfrm>
            <a:off x="8275320" y="217627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8275320" y="22311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69680" y="223113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ERA5による検証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75320" y="27889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格子データの領域平均気圧だけで AUC 0.879。判別に必要な情報自体は確かに存在する。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21295C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73659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結論：データ量の問題でも、情報の不在でもない。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単一時刻の天気図画像という入力形式から、位置情報を抽出できていないことが原因。したがって対策はデータ追加ではなく、入力の変更にある。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進行中の改善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ERA5再解析データの併用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気象庁の天気図画像に加え、ERA5の格子データから領域ごとの気圧・気温を数値として与える。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2024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92024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4F7F9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0" y="2084832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効いている特徴量が説明できる
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オホーツク海高気圧の判別に最も寄与したのは、意図して設計した「オホーツク海領域の気圧偏差」だった。CNNと違い、根拠を数値で示せる。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680960" y="4069080"/>
            <a:ext cx="3977640" cy="2057400"/>
          </a:xfrm>
          <a:prstGeom prst="roundRect">
            <a:avLst>
              <a:gd name="adj" fmla="val 3556"/>
            </a:avLst>
          </a:prstGeom>
          <a:solidFill>
            <a:srgbClr val="FDF1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0" y="4233672"/>
            <a:ext cx="3611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34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注意すべき点
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・ERA5単独ではCNNに及ばない（0.487 対 0.630）。置き換えではなく補完。
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・前線通過だけAUC 0.756と最低。「通過」は時間変化であり、単一時刻の格子には写らない。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今後の課題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36776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82496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ERA5のCNNへの統合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257800" y="1581912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実装は完了。交差検証を実施中。オホーツク海高気圧の改善を確認する。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432304"/>
            <a:ext cx="402336" cy="402336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78024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2395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ラベルの再現性の測定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257800" y="2377440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同じ天気図に答えを見ずに再度ラベル付けし、人間の判断のゆらぎを測る。これが達成可能な性能の上限になる。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227832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319125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乱数シードを変えた再現確認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57800" y="3172968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現在の +0.017 という改善は1条件のみの結果。複数回繰り返して安定性を確認する。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069080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9867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確信度の較正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57800" y="3968496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確信度の中央値0.977に対し実際の性能は0.613。自信過剰であり、補正が必要。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81888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864608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47823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時間方向の情報の利用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257800" y="4764024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「前線通過」「停滞」は単一時刻では原理的に判別できない。複数時刻の入力が必要。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623560"/>
            <a:ext cx="1097280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8338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341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優先度が最も高いのは 2 。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人間の一致率が分からなければ、0.63 という数値が良いのか悪いのかを判断できない。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2026-08-19T12:22:25Z</dcterms:created>
  <dcterms:modified xsi:type="dcterms:W3CDTF">2026-08-19T12:22:25Z</dcterms:modified>
</cp:coreProperties>
</file>